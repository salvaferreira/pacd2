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789" r:id="rId2"/>
    <p:sldId id="798" r:id="rId3"/>
    <p:sldId id="799" r:id="rId4"/>
    <p:sldId id="800" r:id="rId5"/>
    <p:sldId id="278" r:id="rId6"/>
    <p:sldId id="268" r:id="rId7"/>
    <p:sldId id="274" r:id="rId8"/>
    <p:sldId id="269" r:id="rId9"/>
    <p:sldId id="270" r:id="rId10"/>
    <p:sldId id="293" r:id="rId11"/>
    <p:sldId id="801" r:id="rId12"/>
    <p:sldId id="790" r:id="rId13"/>
    <p:sldId id="792" r:id="rId14"/>
    <p:sldId id="793" r:id="rId15"/>
    <p:sldId id="794" r:id="rId16"/>
    <p:sldId id="79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A77E0D0-1787-8344-B9AB-83BAD57B90CC}">
          <p14:sldIdLst>
            <p14:sldId id="789"/>
            <p14:sldId id="798"/>
            <p14:sldId id="799"/>
            <p14:sldId id="800"/>
            <p14:sldId id="278"/>
            <p14:sldId id="268"/>
            <p14:sldId id="274"/>
            <p14:sldId id="269"/>
            <p14:sldId id="270"/>
            <p14:sldId id="293"/>
            <p14:sldId id="801"/>
            <p14:sldId id="790"/>
            <p14:sldId id="792"/>
            <p14:sldId id="793"/>
            <p14:sldId id="794"/>
            <p14:sldId id="79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FAFE"/>
    <a:srgbClr val="C6E5FF"/>
    <a:srgbClr val="D2FFFC"/>
    <a:srgbClr val="098C43"/>
    <a:srgbClr val="FFFE42"/>
    <a:srgbClr val="E40807"/>
    <a:srgbClr val="0A0909"/>
    <a:srgbClr val="F7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85"/>
    <p:restoredTop sz="94645"/>
  </p:normalViewPr>
  <p:slideViewPr>
    <p:cSldViewPr snapToGrid="0" snapToObjects="1">
      <p:cViewPr varScale="1">
        <p:scale>
          <a:sx n="119" d="100"/>
          <a:sy n="119" d="100"/>
        </p:scale>
        <p:origin x="432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816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o Batista" userId="7d417973-ae69-482c-b0a3-c7acb48f925a" providerId="ADAL" clId="{91DFD31A-87A5-664E-A352-38361A6C00B4}"/>
    <pc:docChg chg="custSel modSld">
      <pc:chgData name="Fernando Batista" userId="7d417973-ae69-482c-b0a3-c7acb48f925a" providerId="ADAL" clId="{91DFD31A-87A5-664E-A352-38361A6C00B4}" dt="2024-11-12T10:34:44.980" v="197" actId="1076"/>
      <pc:docMkLst>
        <pc:docMk/>
      </pc:docMkLst>
      <pc:sldChg chg="delSp mod">
        <pc:chgData name="Fernando Batista" userId="7d417973-ae69-482c-b0a3-c7acb48f925a" providerId="ADAL" clId="{91DFD31A-87A5-664E-A352-38361A6C00B4}" dt="2024-11-12T10:27:53.294" v="0" actId="478"/>
        <pc:sldMkLst>
          <pc:docMk/>
          <pc:sldMk cId="2959671648" sldId="789"/>
        </pc:sldMkLst>
        <pc:spChg chg="del">
          <ac:chgData name="Fernando Batista" userId="7d417973-ae69-482c-b0a3-c7acb48f925a" providerId="ADAL" clId="{91DFD31A-87A5-664E-A352-38361A6C00B4}" dt="2024-11-12T10:27:53.294" v="0" actId="478"/>
          <ac:spMkLst>
            <pc:docMk/>
            <pc:sldMk cId="2959671648" sldId="789"/>
            <ac:spMk id="3" creationId="{19CC9EFE-AF86-C34A-AC07-7BA9E5BEB89E}"/>
          </ac:spMkLst>
        </pc:spChg>
      </pc:sldChg>
      <pc:sldChg chg="modSp mod">
        <pc:chgData name="Fernando Batista" userId="7d417973-ae69-482c-b0a3-c7acb48f925a" providerId="ADAL" clId="{91DFD31A-87A5-664E-A352-38361A6C00B4}" dt="2024-11-12T10:34:44.980" v="197" actId="1076"/>
        <pc:sldMkLst>
          <pc:docMk/>
          <pc:sldMk cId="2103791668" sldId="798"/>
        </pc:sldMkLst>
        <pc:graphicFrameChg chg="mod modGraphic">
          <ac:chgData name="Fernando Batista" userId="7d417973-ae69-482c-b0a3-c7acb48f925a" providerId="ADAL" clId="{91DFD31A-87A5-664E-A352-38361A6C00B4}" dt="2024-11-12T10:34:44.980" v="197" actId="1076"/>
          <ac:graphicFrameMkLst>
            <pc:docMk/>
            <pc:sldMk cId="2103791668" sldId="798"/>
            <ac:graphicFrameMk id="4" creationId="{47AE9152-2919-9467-8D2F-CF555957BC3E}"/>
          </ac:graphicFrameMkLst>
        </pc:graphicFrameChg>
      </pc:sldChg>
    </pc:docChg>
  </pc:docChgLst>
  <pc:docChgLst>
    <pc:chgData name="Fernando Batista" userId="7d417973-ae69-482c-b0a3-c7acb48f925a" providerId="ADAL" clId="{450D883F-EECA-EE40-AB3F-13AD225C9049}"/>
    <pc:docChg chg="undo custSel addSld delSld modSld sldOrd modMainMaster modSection">
      <pc:chgData name="Fernando Batista" userId="7d417973-ae69-482c-b0a3-c7acb48f925a" providerId="ADAL" clId="{450D883F-EECA-EE40-AB3F-13AD225C9049}" dt="2021-07-21T11:26:26.970" v="1331" actId="20577"/>
      <pc:docMkLst>
        <pc:docMk/>
      </pc:docMkLst>
      <pc:sldChg chg="addSp delSp modSp mod">
        <pc:chgData name="Fernando Batista" userId="7d417973-ae69-482c-b0a3-c7acb48f925a" providerId="ADAL" clId="{450D883F-EECA-EE40-AB3F-13AD225C9049}" dt="2021-07-21T10:55:39.265" v="1295" actId="14100"/>
        <pc:sldMkLst>
          <pc:docMk/>
          <pc:sldMk cId="2959671648" sldId="789"/>
        </pc:sldMkLst>
        <pc:spChg chg="add del mod">
          <ac:chgData name="Fernando Batista" userId="7d417973-ae69-482c-b0a3-c7acb48f925a" providerId="ADAL" clId="{450D883F-EECA-EE40-AB3F-13AD225C9049}" dt="2021-07-21T07:40:51.858" v="191" actId="478"/>
          <ac:spMkLst>
            <pc:docMk/>
            <pc:sldMk cId="2959671648" sldId="789"/>
            <ac:spMk id="2" creationId="{B7C44151-153D-684A-9E8A-617A3FDC80DE}"/>
          </ac:spMkLst>
        </pc:spChg>
        <pc:spChg chg="add mod">
          <ac:chgData name="Fernando Batista" userId="7d417973-ae69-482c-b0a3-c7acb48f925a" providerId="ADAL" clId="{450D883F-EECA-EE40-AB3F-13AD225C9049}" dt="2021-07-21T07:45:53.402" v="258"/>
          <ac:spMkLst>
            <pc:docMk/>
            <pc:sldMk cId="2959671648" sldId="789"/>
            <ac:spMk id="3" creationId="{19CC9EFE-AF86-C34A-AC07-7BA9E5BEB89E}"/>
          </ac:spMkLst>
        </pc:spChg>
        <pc:spChg chg="mod">
          <ac:chgData name="Fernando Batista" userId="7d417973-ae69-482c-b0a3-c7acb48f925a" providerId="ADAL" clId="{450D883F-EECA-EE40-AB3F-13AD225C9049}" dt="2021-07-21T07:53:08.585" v="354" actId="20577"/>
          <ac:spMkLst>
            <pc:docMk/>
            <pc:sldMk cId="2959671648" sldId="789"/>
            <ac:spMk id="6" creationId="{B9A627BF-095C-F249-8173-CBF930D63288}"/>
          </ac:spMkLst>
        </pc:spChg>
        <pc:spChg chg="mod">
          <ac:chgData name="Fernando Batista" userId="7d417973-ae69-482c-b0a3-c7acb48f925a" providerId="ADAL" clId="{450D883F-EECA-EE40-AB3F-13AD225C9049}" dt="2021-07-21T10:55:39.265" v="1295" actId="14100"/>
          <ac:spMkLst>
            <pc:docMk/>
            <pc:sldMk cId="2959671648" sldId="789"/>
            <ac:spMk id="8" creationId="{2F2703D6-52A1-E94B-86C3-5107E6516C9A}"/>
          </ac:spMkLst>
        </pc:spChg>
      </pc:sldChg>
      <pc:sldChg chg="addSp delSp modSp mod ord modClrScheme chgLayout">
        <pc:chgData name="Fernando Batista" userId="7d417973-ae69-482c-b0a3-c7acb48f925a" providerId="ADAL" clId="{450D883F-EECA-EE40-AB3F-13AD225C9049}" dt="2021-07-21T08:16:41.798" v="737" actId="20577"/>
        <pc:sldMkLst>
          <pc:docMk/>
          <pc:sldMk cId="3914080334" sldId="790"/>
        </pc:sldMkLst>
        <pc:spChg chg="del mod ord">
          <ac:chgData name="Fernando Batista" userId="7d417973-ae69-482c-b0a3-c7acb48f925a" providerId="ADAL" clId="{450D883F-EECA-EE40-AB3F-13AD225C9049}" dt="2021-07-21T07:34:01.947" v="1" actId="700"/>
          <ac:spMkLst>
            <pc:docMk/>
            <pc:sldMk cId="3914080334" sldId="790"/>
            <ac:spMk id="2" creationId="{41A80D8D-4B91-CC4B-89EB-268266CC1BBB}"/>
          </ac:spMkLst>
        </pc:spChg>
        <pc:spChg chg="del">
          <ac:chgData name="Fernando Batista" userId="7d417973-ae69-482c-b0a3-c7acb48f925a" providerId="ADAL" clId="{450D883F-EECA-EE40-AB3F-13AD225C9049}" dt="2021-07-21T07:34:01.947" v="1" actId="700"/>
          <ac:spMkLst>
            <pc:docMk/>
            <pc:sldMk cId="3914080334" sldId="790"/>
            <ac:spMk id="3" creationId="{2C8FB1B3-C1EC-9844-B87D-3590AC8D826E}"/>
          </ac:spMkLst>
        </pc:spChg>
        <pc:spChg chg="del">
          <ac:chgData name="Fernando Batista" userId="7d417973-ae69-482c-b0a3-c7acb48f925a" providerId="ADAL" clId="{450D883F-EECA-EE40-AB3F-13AD225C9049}" dt="2021-07-21T07:34:01.947" v="1" actId="700"/>
          <ac:spMkLst>
            <pc:docMk/>
            <pc:sldMk cId="3914080334" sldId="790"/>
            <ac:spMk id="4" creationId="{2BFEC054-77C4-FC4C-8A6B-AD210254415F}"/>
          </ac:spMkLst>
        </pc:spChg>
        <pc:spChg chg="add mod ord">
          <ac:chgData name="Fernando Batista" userId="7d417973-ae69-482c-b0a3-c7acb48f925a" providerId="ADAL" clId="{450D883F-EECA-EE40-AB3F-13AD225C9049}" dt="2021-07-21T08:16:41.798" v="737" actId="20577"/>
          <ac:spMkLst>
            <pc:docMk/>
            <pc:sldMk cId="3914080334" sldId="790"/>
            <ac:spMk id="5" creationId="{30764D1A-3228-6F40-B834-F7E32CDBBCDA}"/>
          </ac:spMkLst>
        </pc:spChg>
        <pc:spChg chg="add del mod">
          <ac:chgData name="Fernando Batista" userId="7d417973-ae69-482c-b0a3-c7acb48f925a" providerId="ADAL" clId="{450D883F-EECA-EE40-AB3F-13AD225C9049}" dt="2021-07-21T07:34:08.294" v="3"/>
          <ac:spMkLst>
            <pc:docMk/>
            <pc:sldMk cId="3914080334" sldId="790"/>
            <ac:spMk id="7" creationId="{26AFA9DF-EF6D-9145-8D1B-2A12A3D30E7E}"/>
          </ac:spMkLst>
        </pc:spChg>
        <pc:spChg chg="add del mod">
          <ac:chgData name="Fernando Batista" userId="7d417973-ae69-482c-b0a3-c7acb48f925a" providerId="ADAL" clId="{450D883F-EECA-EE40-AB3F-13AD225C9049}" dt="2021-07-21T07:34:16.659" v="5"/>
          <ac:spMkLst>
            <pc:docMk/>
            <pc:sldMk cId="3914080334" sldId="790"/>
            <ac:spMk id="9" creationId="{627007D9-6C34-C241-B5B8-8169879C4ADE}"/>
          </ac:spMkLst>
        </pc:spChg>
        <pc:graphicFrameChg chg="add del mod">
          <ac:chgData name="Fernando Batista" userId="7d417973-ae69-482c-b0a3-c7acb48f925a" providerId="ADAL" clId="{450D883F-EECA-EE40-AB3F-13AD225C9049}" dt="2021-07-21T07:34:08.294" v="3"/>
          <ac:graphicFrameMkLst>
            <pc:docMk/>
            <pc:sldMk cId="3914080334" sldId="790"/>
            <ac:graphicFrameMk id="6" creationId="{08DECCDE-EBB8-ED4D-9D2A-D04E2E50FF48}"/>
          </ac:graphicFrameMkLst>
        </pc:graphicFrameChg>
        <pc:graphicFrameChg chg="add del mod">
          <ac:chgData name="Fernando Batista" userId="7d417973-ae69-482c-b0a3-c7acb48f925a" providerId="ADAL" clId="{450D883F-EECA-EE40-AB3F-13AD225C9049}" dt="2021-07-21T07:34:16.659" v="5"/>
          <ac:graphicFrameMkLst>
            <pc:docMk/>
            <pc:sldMk cId="3914080334" sldId="790"/>
            <ac:graphicFrameMk id="8" creationId="{79A1A683-8DF4-8D47-B59D-37B7C9B57728}"/>
          </ac:graphicFrameMkLst>
        </pc:graphicFrameChg>
        <pc:graphicFrameChg chg="add mod modGraphic">
          <ac:chgData name="Fernando Batista" userId="7d417973-ae69-482c-b0a3-c7acb48f925a" providerId="ADAL" clId="{450D883F-EECA-EE40-AB3F-13AD225C9049}" dt="2021-07-21T08:01:18.106" v="435" actId="20577"/>
          <ac:graphicFrameMkLst>
            <pc:docMk/>
            <pc:sldMk cId="3914080334" sldId="790"/>
            <ac:graphicFrameMk id="10" creationId="{79319CA1-819A-3848-9A4F-D697A8091590}"/>
          </ac:graphicFrameMkLst>
        </pc:graphicFrameChg>
      </pc:sldChg>
      <pc:sldChg chg="modSp del mod">
        <pc:chgData name="Fernando Batista" userId="7d417973-ae69-482c-b0a3-c7acb48f925a" providerId="ADAL" clId="{450D883F-EECA-EE40-AB3F-13AD225C9049}" dt="2021-07-21T08:20:08.962" v="769" actId="2696"/>
        <pc:sldMkLst>
          <pc:docMk/>
          <pc:sldMk cId="472227855" sldId="791"/>
        </pc:sldMkLst>
        <pc:spChg chg="mod">
          <ac:chgData name="Fernando Batista" userId="7d417973-ae69-482c-b0a3-c7acb48f925a" providerId="ADAL" clId="{450D883F-EECA-EE40-AB3F-13AD225C9049}" dt="2021-07-21T07:42:13.704" v="240" actId="20577"/>
          <ac:spMkLst>
            <pc:docMk/>
            <pc:sldMk cId="472227855" sldId="791"/>
            <ac:spMk id="2" creationId="{3E7823C6-49DD-A64B-904E-63CB21FE92F1}"/>
          </ac:spMkLst>
        </pc:spChg>
        <pc:spChg chg="mod">
          <ac:chgData name="Fernando Batista" userId="7d417973-ae69-482c-b0a3-c7acb48f925a" providerId="ADAL" clId="{450D883F-EECA-EE40-AB3F-13AD225C9049}" dt="2021-07-21T07:59:11.250" v="423" actId="20577"/>
          <ac:spMkLst>
            <pc:docMk/>
            <pc:sldMk cId="472227855" sldId="791"/>
            <ac:spMk id="3" creationId="{09C49F31-75AD-4242-BFF4-CC9AC0BAC990}"/>
          </ac:spMkLst>
        </pc:spChg>
      </pc:sldChg>
      <pc:sldChg chg="addSp delSp modSp new mod ord chgLayout">
        <pc:chgData name="Fernando Batista" userId="7d417973-ae69-482c-b0a3-c7acb48f925a" providerId="ADAL" clId="{450D883F-EECA-EE40-AB3F-13AD225C9049}" dt="2021-07-21T11:26:26.970" v="1331" actId="20577"/>
        <pc:sldMkLst>
          <pc:docMk/>
          <pc:sldMk cId="360103457" sldId="792"/>
        </pc:sldMkLst>
        <pc:spChg chg="del mod ord">
          <ac:chgData name="Fernando Batista" userId="7d417973-ae69-482c-b0a3-c7acb48f925a" providerId="ADAL" clId="{450D883F-EECA-EE40-AB3F-13AD225C9049}" dt="2021-07-21T07:41:48.747" v="195" actId="700"/>
          <ac:spMkLst>
            <pc:docMk/>
            <pc:sldMk cId="360103457" sldId="792"/>
            <ac:spMk id="2" creationId="{75CFD663-0147-C94C-A041-C4392A67553A}"/>
          </ac:spMkLst>
        </pc:spChg>
        <pc:spChg chg="del mod ord">
          <ac:chgData name="Fernando Batista" userId="7d417973-ae69-482c-b0a3-c7acb48f925a" providerId="ADAL" clId="{450D883F-EECA-EE40-AB3F-13AD225C9049}" dt="2021-07-21T07:41:48.747" v="195" actId="700"/>
          <ac:spMkLst>
            <pc:docMk/>
            <pc:sldMk cId="360103457" sldId="792"/>
            <ac:spMk id="3" creationId="{FED40E8D-C51B-3C4C-BC9E-ABD4DF343D6B}"/>
          </ac:spMkLst>
        </pc:spChg>
        <pc:spChg chg="del">
          <ac:chgData name="Fernando Batista" userId="7d417973-ae69-482c-b0a3-c7acb48f925a" providerId="ADAL" clId="{450D883F-EECA-EE40-AB3F-13AD225C9049}" dt="2021-07-21T07:41:48.747" v="195" actId="700"/>
          <ac:spMkLst>
            <pc:docMk/>
            <pc:sldMk cId="360103457" sldId="792"/>
            <ac:spMk id="4" creationId="{403D4454-3C1E-6E45-8E77-7CE9F281DD63}"/>
          </ac:spMkLst>
        </pc:spChg>
        <pc:spChg chg="add mod ord">
          <ac:chgData name="Fernando Batista" userId="7d417973-ae69-482c-b0a3-c7acb48f925a" providerId="ADAL" clId="{450D883F-EECA-EE40-AB3F-13AD225C9049}" dt="2021-07-21T07:41:51.632" v="205" actId="20577"/>
          <ac:spMkLst>
            <pc:docMk/>
            <pc:sldMk cId="360103457" sldId="792"/>
            <ac:spMk id="5" creationId="{DA364BBA-5092-0A43-BFC1-152217ABCD60}"/>
          </ac:spMkLst>
        </pc:spChg>
        <pc:spChg chg="add mod ord">
          <ac:chgData name="Fernando Batista" userId="7d417973-ae69-482c-b0a3-c7acb48f925a" providerId="ADAL" clId="{450D883F-EECA-EE40-AB3F-13AD225C9049}" dt="2021-07-21T11:26:26.970" v="1331" actId="20577"/>
          <ac:spMkLst>
            <pc:docMk/>
            <pc:sldMk cId="360103457" sldId="792"/>
            <ac:spMk id="6" creationId="{4DEBD575-C77D-0245-B325-B6520D6D731F}"/>
          </ac:spMkLst>
        </pc:spChg>
      </pc:sldChg>
      <pc:sldChg chg="addSp delSp modSp new mod ord chgLayout modNotesTx">
        <pc:chgData name="Fernando Batista" userId="7d417973-ae69-482c-b0a3-c7acb48f925a" providerId="ADAL" clId="{450D883F-EECA-EE40-AB3F-13AD225C9049}" dt="2021-07-21T11:25:19.845" v="1296" actId="20577"/>
        <pc:sldMkLst>
          <pc:docMk/>
          <pc:sldMk cId="292245432" sldId="793"/>
        </pc:sldMkLst>
        <pc:spChg chg="mod ord">
          <ac:chgData name="Fernando Batista" userId="7d417973-ae69-482c-b0a3-c7acb48f925a" providerId="ADAL" clId="{450D883F-EECA-EE40-AB3F-13AD225C9049}" dt="2021-07-21T08:17:13.054" v="739" actId="20577"/>
          <ac:spMkLst>
            <pc:docMk/>
            <pc:sldMk cId="292245432" sldId="793"/>
            <ac:spMk id="2" creationId="{D6340E52-0D73-4F41-80B8-6CD649D3C3AD}"/>
          </ac:spMkLst>
        </pc:spChg>
        <pc:spChg chg="add mod ord">
          <ac:chgData name="Fernando Batista" userId="7d417973-ae69-482c-b0a3-c7acb48f925a" providerId="ADAL" clId="{450D883F-EECA-EE40-AB3F-13AD225C9049}" dt="2021-07-21T11:25:19.845" v="1296" actId="20577"/>
          <ac:spMkLst>
            <pc:docMk/>
            <pc:sldMk cId="292245432" sldId="793"/>
            <ac:spMk id="3" creationId="{63254BF7-92FF-C741-B2FD-E86C679E3DC7}"/>
          </ac:spMkLst>
        </pc:spChg>
        <pc:spChg chg="add del mod">
          <ac:chgData name="Fernando Batista" userId="7d417973-ae69-482c-b0a3-c7acb48f925a" providerId="ADAL" clId="{450D883F-EECA-EE40-AB3F-13AD225C9049}" dt="2021-07-21T10:37:12.490" v="1170" actId="478"/>
          <ac:spMkLst>
            <pc:docMk/>
            <pc:sldMk cId="292245432" sldId="793"/>
            <ac:spMk id="4" creationId="{6123DB9D-3F81-4244-BB3E-23F16AF45BFE}"/>
          </ac:spMkLst>
        </pc:spChg>
        <pc:spChg chg="add del mod">
          <ac:chgData name="Fernando Batista" userId="7d417973-ae69-482c-b0a3-c7acb48f925a" providerId="ADAL" clId="{450D883F-EECA-EE40-AB3F-13AD225C9049}" dt="2021-07-21T10:37:05.641" v="1169" actId="478"/>
          <ac:spMkLst>
            <pc:docMk/>
            <pc:sldMk cId="292245432" sldId="793"/>
            <ac:spMk id="5" creationId="{69B4FC8E-D82D-204D-BDE2-9D0B9CE5AE21}"/>
          </ac:spMkLst>
        </pc:spChg>
      </pc:sldChg>
      <pc:sldMasterChg chg="modSldLayout">
        <pc:chgData name="Fernando Batista" userId="7d417973-ae69-482c-b0a3-c7acb48f925a" providerId="ADAL" clId="{450D883F-EECA-EE40-AB3F-13AD225C9049}" dt="2021-07-21T07:41:02.176" v="192" actId="478"/>
        <pc:sldMasterMkLst>
          <pc:docMk/>
          <pc:sldMasterMk cId="2928686587" sldId="2147483648"/>
        </pc:sldMasterMkLst>
        <pc:sldLayoutChg chg="delSp mod">
          <pc:chgData name="Fernando Batista" userId="7d417973-ae69-482c-b0a3-c7acb48f925a" providerId="ADAL" clId="{450D883F-EECA-EE40-AB3F-13AD225C9049}" dt="2021-07-21T07:41:02.176" v="192" actId="478"/>
          <pc:sldLayoutMkLst>
            <pc:docMk/>
            <pc:sldMasterMk cId="2928686587" sldId="2147483648"/>
            <pc:sldLayoutMk cId="866691249" sldId="2147483649"/>
          </pc:sldLayoutMkLst>
          <pc:spChg chg="del">
            <ac:chgData name="Fernando Batista" userId="7d417973-ae69-482c-b0a3-c7acb48f925a" providerId="ADAL" clId="{450D883F-EECA-EE40-AB3F-13AD225C9049}" dt="2021-07-21T07:41:02.176" v="192" actId="478"/>
            <ac:spMkLst>
              <pc:docMk/>
              <pc:sldMasterMk cId="2928686587" sldId="2147483648"/>
              <pc:sldLayoutMk cId="866691249" sldId="2147483649"/>
              <ac:spMk id="7" creationId="{E6D8567C-1217-FC4D-845F-837ACF4DD72A}"/>
            </ac:spMkLst>
          </pc:spChg>
        </pc:sldLayoutChg>
      </pc:sldMasterChg>
    </pc:docChg>
  </pc:docChgLst>
  <pc:docChgLst>
    <pc:chgData name="Fernando Batista" userId="S::fmmb@iscte-iul.pt::7d417973-ae69-482c-b0a3-c7acb48f925a" providerId="AD" clId="Web-{7A0BF965-6C85-79C4-E54B-D896E18238FA}"/>
    <pc:docChg chg="modSld">
      <pc:chgData name="Fernando Batista" userId="S::fmmb@iscte-iul.pt::7d417973-ae69-482c-b0a3-c7acb48f925a" providerId="AD" clId="Web-{7A0BF965-6C85-79C4-E54B-D896E18238FA}" dt="2021-09-07T15:23:33.245" v="1" actId="20577"/>
      <pc:docMkLst>
        <pc:docMk/>
      </pc:docMkLst>
      <pc:sldChg chg="modSp">
        <pc:chgData name="Fernando Batista" userId="S::fmmb@iscte-iul.pt::7d417973-ae69-482c-b0a3-c7acb48f925a" providerId="AD" clId="Web-{7A0BF965-6C85-79C4-E54B-D896E18238FA}" dt="2021-09-07T15:23:33.245" v="1" actId="20577"/>
        <pc:sldMkLst>
          <pc:docMk/>
          <pc:sldMk cId="360103457" sldId="792"/>
        </pc:sldMkLst>
        <pc:spChg chg="mod">
          <ac:chgData name="Fernando Batista" userId="S::fmmb@iscte-iul.pt::7d417973-ae69-482c-b0a3-c7acb48f925a" providerId="AD" clId="Web-{7A0BF965-6C85-79C4-E54B-D896E18238FA}" dt="2021-09-07T15:23:33.245" v="1" actId="20577"/>
          <ac:spMkLst>
            <pc:docMk/>
            <pc:sldMk cId="360103457" sldId="792"/>
            <ac:spMk id="6" creationId="{4DEBD575-C77D-0245-B325-B6520D6D731F}"/>
          </ac:spMkLst>
        </pc:spChg>
      </pc:sldChg>
    </pc:docChg>
  </pc:docChgLst>
  <pc:docChgLst>
    <pc:chgData name="Fernando Batista" userId="7d417973-ae69-482c-b0a3-c7acb48f925a" providerId="ADAL" clId="{8A7A7013-2140-0440-8028-50359799AFC2}"/>
    <pc:docChg chg="modSld">
      <pc:chgData name="Fernando Batista" userId="7d417973-ae69-482c-b0a3-c7acb48f925a" providerId="ADAL" clId="{8A7A7013-2140-0440-8028-50359799AFC2}" dt="2023-09-04T18:30:42.979" v="2" actId="21"/>
      <pc:docMkLst>
        <pc:docMk/>
      </pc:docMkLst>
      <pc:sldChg chg="modSp mod">
        <pc:chgData name="Fernando Batista" userId="7d417973-ae69-482c-b0a3-c7acb48f925a" providerId="ADAL" clId="{8A7A7013-2140-0440-8028-50359799AFC2}" dt="2023-09-04T18:30:42.979" v="2" actId="21"/>
        <pc:sldMkLst>
          <pc:docMk/>
          <pc:sldMk cId="2103791668" sldId="798"/>
        </pc:sldMkLst>
        <pc:graphicFrameChg chg="modGraphic">
          <ac:chgData name="Fernando Batista" userId="7d417973-ae69-482c-b0a3-c7acb48f925a" providerId="ADAL" clId="{8A7A7013-2140-0440-8028-50359799AFC2}" dt="2023-09-04T18:30:42.979" v="2" actId="21"/>
          <ac:graphicFrameMkLst>
            <pc:docMk/>
            <pc:sldMk cId="2103791668" sldId="798"/>
            <ac:graphicFrameMk id="4" creationId="{47AE9152-2919-9467-8D2F-CF555957BC3E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9CB958-1F66-DC45-8342-8421CB4E74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1A004F-6BBA-C94E-A2FE-9B8AD2F7EB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 dirty="0" err="1"/>
              <a:t>Licenciatura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Ciência</a:t>
            </a:r>
            <a:r>
              <a:rPr lang="en-US" dirty="0"/>
              <a:t> de Dados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C281C3-D9A4-4D44-8C98-B4F73120FA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E34E12-D1AF-1A4F-BC98-BDBAA46104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487455-835C-9846-9511-D1F9A390795B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D96585-04F5-6D47-B8DA-23A4FE76B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65" y="-308136"/>
            <a:ext cx="1797269" cy="1075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7115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334030-A8E3-0D40-9E08-1DE4AEB63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795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334030-A8E3-0D40-9E08-1DE4AEB632B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388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334030-A8E3-0D40-9E08-1DE4AEB632B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49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81BA9-4FF6-BF43-AED1-C4D02ACB242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95501" y="1207912"/>
            <a:ext cx="7086600" cy="2387600"/>
          </a:xfrm>
        </p:spPr>
        <p:txBody>
          <a:bodyPr anchor="ctr"/>
          <a:lstStyle>
            <a:lvl1pPr algn="ctr">
              <a:defRPr sz="6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&lt;</a:t>
            </a:r>
            <a:r>
              <a:rPr lang="en-US" dirty="0" err="1"/>
              <a:t>Título</a:t>
            </a:r>
            <a:r>
              <a:rPr lang="en-US" dirty="0"/>
              <a:t>&gt;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C60270-0F36-FB43-AA2A-0BD90A56DC2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95501" y="3628002"/>
            <a:ext cx="7086600" cy="78708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&lt;</a:t>
            </a:r>
            <a:r>
              <a:rPr lang="en-US" dirty="0" err="1"/>
              <a:t>Subtítulo</a:t>
            </a:r>
            <a:r>
              <a:rPr lang="en-US" dirty="0"/>
              <a:t>&gt;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E4854-DAB6-8F4A-838F-A33081FE0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1401" y="622158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rgbClr val="002060"/>
                </a:solidFill>
              </a:defRPr>
            </a:lvl1pPr>
          </a:lstStyle>
          <a:p>
            <a:endParaRPr lang="en-US" dirty="0"/>
          </a:p>
          <a:p>
            <a:r>
              <a:rPr lang="en-US" dirty="0"/>
              <a:t>UC, LCD, 2021-2022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695188-8A9F-3D4A-9BF5-F2A18C0599C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00762" y="56631"/>
            <a:ext cx="1355090" cy="81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691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B7A67-C7FB-2B42-B55C-5ECFB8753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212749"/>
            <a:ext cx="11313865" cy="957984"/>
          </a:xfrm>
          <a:noFill/>
        </p:spPr>
        <p:txBody>
          <a:bodyPr>
            <a:normAutofit/>
          </a:bodyPr>
          <a:lstStyle>
            <a:lvl1pPr>
              <a:defRPr sz="36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7BF9A-F83E-884E-9317-931E5095A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641" y="1482440"/>
            <a:ext cx="11313864" cy="4623473"/>
          </a:xfrm>
        </p:spPr>
        <p:txBody>
          <a:bodyPr/>
          <a:lstStyle>
            <a:lvl1pPr>
              <a:defRPr sz="28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1C7CAE9-CAA9-944E-A4E2-B7215D153086}"/>
              </a:ext>
            </a:extLst>
          </p:cNvPr>
          <p:cNvCxnSpPr>
            <a:cxnSpLocks/>
          </p:cNvCxnSpPr>
          <p:nvPr userDrawn="1"/>
        </p:nvCxnSpPr>
        <p:spPr>
          <a:xfrm>
            <a:off x="418641" y="1233113"/>
            <a:ext cx="1131432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1065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map&#10;&#10;Description automatically generated">
            <a:extLst>
              <a:ext uri="{FF2B5EF4-FFF2-40B4-BE49-F238E27FC236}">
                <a16:creationId xmlns:a16="http://schemas.microsoft.com/office/drawing/2014/main" id="{DBE5005A-1932-4749-9567-4D26837A2E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88522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5828D0-529C-964D-BD1E-CBA0F3B8F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0533"/>
            <a:ext cx="105156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D92C9-1D27-AD46-A4E6-8C8CA3EAB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207498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69240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map&#10;&#10;Description automatically generated">
            <a:extLst>
              <a:ext uri="{FF2B5EF4-FFF2-40B4-BE49-F238E27FC236}">
                <a16:creationId xmlns:a16="http://schemas.microsoft.com/office/drawing/2014/main" id="{7415BC4A-AAD3-C341-B8B9-90F9A0067B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88522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81821F-F44F-AE48-BC44-DE3E5D346317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D1F7B-7010-E04D-8F51-B72BAB212A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8100" y="1253330"/>
            <a:ext cx="5181600" cy="49738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FED3CB-9C85-8540-AA78-696642793F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53331"/>
            <a:ext cx="5181600" cy="49738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1001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map&#10;&#10;Description automatically generated">
            <a:extLst>
              <a:ext uri="{FF2B5EF4-FFF2-40B4-BE49-F238E27FC236}">
                <a16:creationId xmlns:a16="http://schemas.microsoft.com/office/drawing/2014/main" id="{9CDF0ED1-73BC-B041-BF70-167A01DA4F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88522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37D59E-EC1F-844D-B489-177AD934D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925" y="36513"/>
            <a:ext cx="10515600" cy="9659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B0790F-7506-0742-9ECA-61BBCD226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6925" y="1126516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549B23-AA79-184B-96E6-19EB125B27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2183819"/>
            <a:ext cx="5157787" cy="40058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8DA360-BF1E-864C-BDD3-E765D2B070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6199" y="1126516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77F90D-BC8C-DA4C-8419-6A15433C99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6199" y="2183819"/>
            <a:ext cx="5183188" cy="40058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79658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map&#10;&#10;Description automatically generated">
            <a:extLst>
              <a:ext uri="{FF2B5EF4-FFF2-40B4-BE49-F238E27FC236}">
                <a16:creationId xmlns:a16="http://schemas.microsoft.com/office/drawing/2014/main" id="{87BF7B56-3782-2242-B2B3-0D889FC2F6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88522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8E3C3D-D49B-244A-A3F9-0CDE0B299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00118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496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map&#10;&#10;Description automatically generated">
            <a:extLst>
              <a:ext uri="{FF2B5EF4-FFF2-40B4-BE49-F238E27FC236}">
                <a16:creationId xmlns:a16="http://schemas.microsoft.com/office/drawing/2014/main" id="{98A48786-CEE7-5343-ABC8-B860C994EB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88522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D1FD36-9A31-9F42-8C1A-39D286836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EBF31-FF25-BF40-BE27-F4B7C1B4A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6276" y="474562"/>
            <a:ext cx="6365935" cy="568317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E77BA4-F3E5-EA4D-8B0B-10F4C30E82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66754"/>
            <a:ext cx="3932237" cy="449097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7835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C04D1-3F42-2643-BD80-ED54B42D0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6AB526-2F9A-9643-B0B3-CB646CF66D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021FBE-5259-3B41-AA39-1888E15CD1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924211"/>
            <a:ext cx="3932237" cy="420223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4987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map&#10;&#10;Description automatically generated">
            <a:extLst>
              <a:ext uri="{FF2B5EF4-FFF2-40B4-BE49-F238E27FC236}">
                <a16:creationId xmlns:a16="http://schemas.microsoft.com/office/drawing/2014/main" id="{1DBE573A-8BC1-A246-AC97-6D8A3F40C3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88522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58FBD6-D39E-7642-A9AD-3595261F6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547A-E1F1-EA46-A4AA-13CC2BA94A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7669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496509-3884-124C-BB52-2946FD51F9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127848" y="365125"/>
            <a:ext cx="1225952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6F55AA-2797-A347-A1D6-A991A95165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98870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387176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8471E310-7534-4BB6-B734-2CBD66629E4B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7112000" y="0"/>
            <a:ext cx="5080000" cy="6858000"/>
          </a:xfrm>
          <a:prstGeom prst="rect">
            <a:avLst/>
          </a:prstGeom>
        </p:spPr>
        <p:txBody>
          <a:bodyPr tIns="45719" bIns="45719" anchor="ctr">
            <a:normAutofit/>
          </a:bodyPr>
          <a:lstStyle>
            <a:lvl1pPr marL="0" indent="0" algn="ctr">
              <a:buNone/>
              <a:defRPr sz="1250"/>
            </a:lvl1pPr>
          </a:lstStyle>
          <a:p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19B4D-23DE-D1AA-F0BD-AA5676952E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6100" y="1411357"/>
            <a:ext cx="6361596" cy="4552088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900"/>
              </a:spcAft>
              <a:defRPr sz="21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defRPr sz="1900"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defRPr sz="1900"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pt-PT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7661104-A6E4-F3D1-80B9-7DE58F76F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099" y="401841"/>
            <a:ext cx="6361596" cy="706030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 dirty="0"/>
              <a:t>Click to edit Master title style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850384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114F26-B53B-D64E-809E-5E765B041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41" y="212748"/>
            <a:ext cx="11314323" cy="9233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C639E-28EF-3C48-BDC4-837E0EC072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41" y="1496293"/>
            <a:ext cx="11314323" cy="48600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8686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9A627BF-095C-F249-8173-CBF930D632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PT" noProof="0" dirty="0"/>
              <a:t>PACD</a:t>
            </a:r>
            <a:br>
              <a:rPr lang="pt-PT" noProof="0" dirty="0"/>
            </a:br>
            <a:r>
              <a:rPr lang="pt-PT" noProof="0" dirty="0"/>
              <a:t>Projeto Aplicado em Ciência de Dados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2F2703D6-52A1-E94B-86C3-5107E6516C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95501" y="3628001"/>
            <a:ext cx="7086600" cy="1158311"/>
          </a:xfrm>
        </p:spPr>
        <p:txBody>
          <a:bodyPr/>
          <a:lstStyle/>
          <a:p>
            <a:r>
              <a:rPr lang="pt-PT" b="1" noProof="0" dirty="0"/>
              <a:t>3º Ano - 1º semestre</a:t>
            </a:r>
          </a:p>
        </p:txBody>
      </p:sp>
    </p:spTree>
    <p:extLst>
      <p:ext uri="{BB962C8B-B14F-4D97-AF65-F5344CB8AC3E}">
        <p14:creationId xmlns:p14="http://schemas.microsoft.com/office/powerpoint/2010/main" val="2959671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F706F-8245-795F-3864-2D5FCA46C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noProof="0" dirty="0"/>
              <a:t>Planeamento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7AE9152-2919-9467-8D2F-CF555957BC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3259464"/>
              </p:ext>
            </p:extLst>
          </p:nvPr>
        </p:nvGraphicFramePr>
        <p:xfrm>
          <a:off x="419098" y="1639228"/>
          <a:ext cx="11313865" cy="449813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662855">
                  <a:extLst>
                    <a:ext uri="{9D8B030D-6E8A-4147-A177-3AD203B41FA5}">
                      <a16:colId xmlns:a16="http://schemas.microsoft.com/office/drawing/2014/main" val="1018707082"/>
                    </a:ext>
                  </a:extLst>
                </a:gridCol>
                <a:gridCol w="8384165">
                  <a:extLst>
                    <a:ext uri="{9D8B030D-6E8A-4147-A177-3AD203B41FA5}">
                      <a16:colId xmlns:a16="http://schemas.microsoft.com/office/drawing/2014/main" val="577237209"/>
                    </a:ext>
                  </a:extLst>
                </a:gridCol>
                <a:gridCol w="2266845">
                  <a:extLst>
                    <a:ext uri="{9D8B030D-6E8A-4147-A177-3AD203B41FA5}">
                      <a16:colId xmlns:a16="http://schemas.microsoft.com/office/drawing/2014/main" val="1711241325"/>
                    </a:ext>
                  </a:extLst>
                </a:gridCol>
              </a:tblGrid>
              <a:tr h="321295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>
                          <a:effectLst/>
                        </a:rPr>
                        <a:t>Aula</a:t>
                      </a:r>
                      <a:endParaRPr lang="en-GB" sz="1800" b="1" i="0" u="none" strike="noStrike">
                        <a:solidFill>
                          <a:srgbClr val="44546A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u="none" strike="noStrike">
                          <a:effectLst/>
                        </a:rPr>
                        <a:t>Plano</a:t>
                      </a:r>
                      <a:endParaRPr lang="en-GB" sz="1800" b="1" i="0" u="none" strike="noStrike">
                        <a:solidFill>
                          <a:srgbClr val="44546A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PT" sz="1800" u="none" strike="noStrike">
                          <a:effectLst/>
                        </a:rPr>
                        <a:t> </a:t>
                      </a:r>
                      <a:endParaRPr lang="en-PT" sz="1800" b="1" i="0" u="none" strike="noStrike">
                        <a:solidFill>
                          <a:srgbClr val="44546A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53210595"/>
                  </a:ext>
                </a:extLst>
              </a:tr>
              <a:tr h="321295">
                <a:tc>
                  <a:txBody>
                    <a:bodyPr/>
                    <a:lstStyle/>
                    <a:p>
                      <a:pPr algn="ctr" fontAlgn="b"/>
                      <a:r>
                        <a:rPr lang="en-PT" sz="2000" u="none" strike="noStrike">
                          <a:effectLst/>
                        </a:rPr>
                        <a:t>1</a:t>
                      </a:r>
                      <a:endParaRPr lang="en-PT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u="none" strike="noStrike" dirty="0" err="1">
                          <a:effectLst/>
                        </a:rPr>
                        <a:t>Introdução</a:t>
                      </a:r>
                      <a:r>
                        <a:rPr lang="en-GB" sz="2000" u="none" strike="noStrike" dirty="0">
                          <a:effectLst/>
                        </a:rPr>
                        <a:t> </a:t>
                      </a:r>
                      <a:r>
                        <a:rPr lang="en-GB" sz="2000" u="none" strike="noStrike" dirty="0" err="1">
                          <a:effectLst/>
                        </a:rPr>
                        <a:t>à</a:t>
                      </a:r>
                      <a:r>
                        <a:rPr lang="en-GB" sz="2000" u="none" strike="noStrike" dirty="0">
                          <a:effectLst/>
                        </a:rPr>
                        <a:t> UC; </a:t>
                      </a:r>
                      <a:r>
                        <a:rPr lang="en-GB" sz="2000" u="none" strike="noStrike" dirty="0" err="1">
                          <a:effectLst/>
                        </a:rPr>
                        <a:t>Análise</a:t>
                      </a:r>
                      <a:r>
                        <a:rPr lang="en-GB" sz="2000" u="none" strike="noStrike" dirty="0">
                          <a:effectLst/>
                        </a:rPr>
                        <a:t> </a:t>
                      </a:r>
                      <a:r>
                        <a:rPr lang="en-GB" sz="2000" u="none" strike="noStrike" dirty="0" err="1">
                          <a:effectLst/>
                        </a:rPr>
                        <a:t>preliminar</a:t>
                      </a:r>
                      <a:r>
                        <a:rPr lang="en-GB" sz="2000" u="none" strike="noStrike" dirty="0">
                          <a:effectLst/>
                        </a:rPr>
                        <a:t> de dados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PT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8716323"/>
                  </a:ext>
                </a:extLst>
              </a:tr>
              <a:tr h="321295">
                <a:tc>
                  <a:txBody>
                    <a:bodyPr/>
                    <a:lstStyle/>
                    <a:p>
                      <a:pPr algn="ctr" fontAlgn="b"/>
                      <a:r>
                        <a:rPr lang="en-PT" sz="2000" u="none" strike="noStrike">
                          <a:effectLst/>
                        </a:rPr>
                        <a:t>2</a:t>
                      </a:r>
                      <a:endParaRPr lang="en-PT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u="none" strike="noStrike" dirty="0" err="1">
                          <a:effectLst/>
                        </a:rPr>
                        <a:t>Visualização</a:t>
                      </a:r>
                      <a:r>
                        <a:rPr lang="en-GB" sz="2000" u="none" strike="noStrike" dirty="0">
                          <a:effectLst/>
                        </a:rPr>
                        <a:t> de dados: Boxplots e DBSCAN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PT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05659079"/>
                  </a:ext>
                </a:extLst>
              </a:tr>
              <a:tr h="321295">
                <a:tc>
                  <a:txBody>
                    <a:bodyPr/>
                    <a:lstStyle/>
                    <a:p>
                      <a:pPr algn="ctr" fontAlgn="b"/>
                      <a:r>
                        <a:rPr lang="en-PT" sz="2000" u="none" strike="noStrike" dirty="0">
                          <a:effectLst/>
                        </a:rPr>
                        <a:t>3</a:t>
                      </a:r>
                      <a:endParaRPr lang="en-PT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u="none" strike="noStrike" dirty="0" err="1">
                          <a:effectLst/>
                        </a:rPr>
                        <a:t>Seleção</a:t>
                      </a:r>
                      <a:r>
                        <a:rPr lang="en-GB" sz="2000" u="none" strike="noStrike" dirty="0">
                          <a:effectLst/>
                        </a:rPr>
                        <a:t> de </a:t>
                      </a:r>
                      <a:r>
                        <a:rPr lang="en-GB" sz="2000" u="none" strike="noStrike" dirty="0" err="1">
                          <a:effectLst/>
                        </a:rPr>
                        <a:t>atributos</a:t>
                      </a:r>
                      <a:r>
                        <a:rPr lang="en-GB" sz="2000" u="none" strike="noStrike" dirty="0">
                          <a:effectLst/>
                        </a:rPr>
                        <a:t>; </a:t>
                      </a:r>
                      <a:r>
                        <a:rPr lang="en-GB" sz="2000" u="none" strike="noStrike" dirty="0" err="1">
                          <a:effectLst/>
                        </a:rPr>
                        <a:t>Aprendizagem</a:t>
                      </a:r>
                      <a:r>
                        <a:rPr lang="en-GB" sz="2000" u="none" strike="noStrike" dirty="0">
                          <a:effectLst/>
                        </a:rPr>
                        <a:t> </a:t>
                      </a:r>
                      <a:r>
                        <a:rPr lang="en-GB" sz="2000" u="none" strike="noStrike" dirty="0" err="1">
                          <a:effectLst/>
                        </a:rPr>
                        <a:t>Supervisionada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Quiz</a:t>
                      </a:r>
                      <a:r>
                        <a:rPr lang="pt-PT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1</a:t>
                      </a:r>
                      <a:endParaRPr lang="en-PT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25204720"/>
                  </a:ext>
                </a:extLst>
              </a:tr>
              <a:tr h="321295">
                <a:tc>
                  <a:txBody>
                    <a:bodyPr/>
                    <a:lstStyle/>
                    <a:p>
                      <a:pPr algn="ctr" fontAlgn="b"/>
                      <a:r>
                        <a:rPr lang="en-PT" sz="2000" u="none" strike="noStrike" dirty="0">
                          <a:effectLst/>
                        </a:rPr>
                        <a:t>4</a:t>
                      </a:r>
                      <a:endParaRPr lang="en-PT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u="none" strike="noStrike" dirty="0" err="1">
                          <a:effectLst/>
                        </a:rPr>
                        <a:t>Aprendizagem</a:t>
                      </a:r>
                      <a:r>
                        <a:rPr lang="en-GB" sz="2000" u="none" strike="noStrike" dirty="0">
                          <a:effectLst/>
                        </a:rPr>
                        <a:t> </a:t>
                      </a:r>
                      <a:r>
                        <a:rPr lang="en-GB" sz="2000" u="none" strike="noStrike" dirty="0" err="1">
                          <a:effectLst/>
                        </a:rPr>
                        <a:t>Supervisionada</a:t>
                      </a:r>
                      <a:r>
                        <a:rPr lang="en-GB" sz="2000" u="none" strike="noStrike" dirty="0">
                          <a:effectLst/>
                        </a:rPr>
                        <a:t> e </a:t>
                      </a:r>
                      <a:r>
                        <a:rPr lang="en-GB" sz="2000" u="none" strike="noStrike" dirty="0" err="1">
                          <a:effectLst/>
                        </a:rPr>
                        <a:t>Interpretação</a:t>
                      </a:r>
                      <a:r>
                        <a:rPr lang="en-GB" sz="2000" u="none" strike="noStrike" dirty="0">
                          <a:effectLst/>
                        </a:rPr>
                        <a:t> de </a:t>
                      </a:r>
                      <a:r>
                        <a:rPr lang="en-GB" sz="2000" u="none" strike="noStrike" dirty="0" err="1">
                          <a:effectLst/>
                        </a:rPr>
                        <a:t>resultados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Quiz 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66116049"/>
                  </a:ext>
                </a:extLst>
              </a:tr>
              <a:tr h="321295">
                <a:tc>
                  <a:txBody>
                    <a:bodyPr/>
                    <a:lstStyle/>
                    <a:p>
                      <a:pPr algn="ctr" fontAlgn="b"/>
                      <a:r>
                        <a:rPr lang="en-PT" sz="2000" u="none" strike="noStrike">
                          <a:effectLst/>
                        </a:rPr>
                        <a:t>5</a:t>
                      </a:r>
                      <a:endParaRPr lang="en-PT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u="none" strike="noStrike" dirty="0" err="1">
                          <a:effectLst/>
                        </a:rPr>
                        <a:t>Engenharia</a:t>
                      </a:r>
                      <a:r>
                        <a:rPr lang="en-GB" sz="2000" u="none" strike="noStrike" dirty="0">
                          <a:effectLst/>
                        </a:rPr>
                        <a:t> de </a:t>
                      </a:r>
                      <a:r>
                        <a:rPr lang="en-GB" sz="2000" u="none" strike="noStrike" dirty="0" err="1">
                          <a:effectLst/>
                        </a:rPr>
                        <a:t>atributos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29599761"/>
                  </a:ext>
                </a:extLst>
              </a:tr>
              <a:tr h="321295">
                <a:tc>
                  <a:txBody>
                    <a:bodyPr/>
                    <a:lstStyle/>
                    <a:p>
                      <a:pPr algn="ctr" fontAlgn="b"/>
                      <a:r>
                        <a:rPr lang="en-PT" sz="2000" u="none" strike="noStrike">
                          <a:effectLst/>
                        </a:rPr>
                        <a:t>6</a:t>
                      </a:r>
                      <a:endParaRPr lang="en-PT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u="none" strike="noStrike" dirty="0" err="1">
                          <a:effectLst/>
                        </a:rPr>
                        <a:t>Tópicos</a:t>
                      </a:r>
                      <a:r>
                        <a:rPr lang="en-GB" sz="2000" u="none" strike="noStrike" dirty="0">
                          <a:effectLst/>
                        </a:rPr>
                        <a:t> </a:t>
                      </a:r>
                      <a:r>
                        <a:rPr lang="en-GB" sz="2000" u="none" strike="noStrike" dirty="0" err="1">
                          <a:effectLst/>
                        </a:rPr>
                        <a:t>sobre</a:t>
                      </a:r>
                      <a:r>
                        <a:rPr lang="en-GB" sz="2000" u="none" strike="noStrike" dirty="0">
                          <a:effectLst/>
                        </a:rPr>
                        <a:t> </a:t>
                      </a:r>
                      <a:r>
                        <a:rPr lang="en-GB" sz="2000" u="none" strike="noStrike" dirty="0" err="1">
                          <a:effectLst/>
                        </a:rPr>
                        <a:t>seleção</a:t>
                      </a:r>
                      <a:r>
                        <a:rPr lang="en-GB" sz="2000" u="none" strike="noStrike" dirty="0">
                          <a:effectLst/>
                        </a:rPr>
                        <a:t> de </a:t>
                      </a:r>
                      <a:r>
                        <a:rPr lang="en-GB" sz="2000" u="none" strike="noStrike" dirty="0" err="1">
                          <a:effectLst/>
                        </a:rPr>
                        <a:t>modelos</a:t>
                      </a:r>
                      <a:r>
                        <a:rPr lang="en-GB" sz="2000" u="none" strike="noStrike" dirty="0">
                          <a:effectLst/>
                        </a:rPr>
                        <a:t>, </a:t>
                      </a:r>
                      <a:r>
                        <a:rPr lang="en-GB" sz="2000" u="none" strike="noStrike" dirty="0" err="1">
                          <a:effectLst/>
                        </a:rPr>
                        <a:t>Relatório</a:t>
                      </a:r>
                      <a:r>
                        <a:rPr lang="en-GB" sz="2000" u="none" strike="noStrike" dirty="0">
                          <a:effectLst/>
                        </a:rPr>
                        <a:t> de </a:t>
                      </a:r>
                      <a:r>
                        <a:rPr lang="en-GB" sz="2000" u="none" strike="noStrike" dirty="0" err="1">
                          <a:effectLst/>
                        </a:rPr>
                        <a:t>Análise</a:t>
                      </a:r>
                      <a:r>
                        <a:rPr lang="en-GB" sz="2000" u="none" strike="noStrike" dirty="0">
                          <a:effectLst/>
                        </a:rPr>
                        <a:t> de dados, </a:t>
                      </a:r>
                      <a:r>
                        <a:rPr lang="en-GB" sz="2000" u="none" strike="noStrike" dirty="0" err="1">
                          <a:effectLst/>
                        </a:rPr>
                        <a:t>exercícios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u="none" strike="noStrike" dirty="0">
                          <a:effectLst/>
                        </a:rPr>
                        <a:t>Teste </a:t>
                      </a:r>
                      <a:r>
                        <a:rPr lang="en-GB" sz="2000" u="none" strike="noStrike" dirty="0" err="1">
                          <a:effectLst/>
                        </a:rPr>
                        <a:t>intercalar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18444443"/>
                  </a:ext>
                </a:extLst>
              </a:tr>
              <a:tr h="321295">
                <a:tc>
                  <a:txBody>
                    <a:bodyPr/>
                    <a:lstStyle/>
                    <a:p>
                      <a:pPr algn="ctr" fontAlgn="b"/>
                      <a:endParaRPr lang="en-PT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u="none" strike="noStrike" dirty="0" err="1">
                          <a:effectLst/>
                        </a:rPr>
                        <a:t>Semana</a:t>
                      </a:r>
                      <a:r>
                        <a:rPr lang="en-GB" sz="2000" u="none" strike="noStrike" dirty="0">
                          <a:effectLst/>
                        </a:rPr>
                        <a:t> </a:t>
                      </a:r>
                      <a:r>
                        <a:rPr lang="en-GB" sz="2000" u="none" strike="noStrike" dirty="0" err="1">
                          <a:effectLst/>
                        </a:rPr>
                        <a:t>Intercalar</a:t>
                      </a:r>
                      <a:endParaRPr lang="en-GB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33046"/>
                  </a:ext>
                </a:extLst>
              </a:tr>
              <a:tr h="321295">
                <a:tc>
                  <a:txBody>
                    <a:bodyPr/>
                    <a:lstStyle/>
                    <a:p>
                      <a:pPr algn="ctr" fontAlgn="b"/>
                      <a:r>
                        <a:rPr lang="en-PT" sz="2000" u="none" strike="noStrike">
                          <a:effectLst/>
                        </a:rPr>
                        <a:t>7</a:t>
                      </a:r>
                      <a:endParaRPr lang="en-PT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u="none" strike="noStrike" dirty="0">
                          <a:effectLst/>
                        </a:rPr>
                        <a:t>Text Mining, NLP, </a:t>
                      </a:r>
                      <a:r>
                        <a:rPr lang="en-GB" sz="2000" u="none" strike="noStrike" dirty="0" err="1">
                          <a:effectLst/>
                        </a:rPr>
                        <a:t>Transformadores</a:t>
                      </a:r>
                      <a:r>
                        <a:rPr lang="en-GB" sz="2000" u="none" strike="noStrike" dirty="0">
                          <a:effectLst/>
                        </a:rPr>
                        <a:t> e </a:t>
                      </a:r>
                      <a:r>
                        <a:rPr lang="en-GB" sz="2000" u="none" strike="noStrike" dirty="0" err="1">
                          <a:effectLst/>
                        </a:rPr>
                        <a:t>modelos</a:t>
                      </a:r>
                      <a:r>
                        <a:rPr lang="en-GB" sz="2000" u="none" strike="noStrike" dirty="0">
                          <a:effectLst/>
                        </a:rPr>
                        <a:t> </a:t>
                      </a:r>
                      <a:r>
                        <a:rPr lang="en-GB" sz="2000" u="none" strike="noStrike" dirty="0" err="1">
                          <a:effectLst/>
                        </a:rPr>
                        <a:t>pré-treinados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PT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78557925"/>
                  </a:ext>
                </a:extLst>
              </a:tr>
              <a:tr h="321295">
                <a:tc>
                  <a:txBody>
                    <a:bodyPr/>
                    <a:lstStyle/>
                    <a:p>
                      <a:pPr algn="ctr" fontAlgn="b"/>
                      <a:r>
                        <a:rPr lang="en-PT" sz="2000" u="none" strike="noStrike">
                          <a:effectLst/>
                        </a:rPr>
                        <a:t>8</a:t>
                      </a:r>
                      <a:endParaRPr lang="en-PT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u="none" strike="noStrike" dirty="0" err="1">
                          <a:effectLst/>
                        </a:rPr>
                        <a:t>Tutoria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PT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89572693"/>
                  </a:ext>
                </a:extLst>
              </a:tr>
              <a:tr h="321295">
                <a:tc>
                  <a:txBody>
                    <a:bodyPr/>
                    <a:lstStyle/>
                    <a:p>
                      <a:pPr algn="ctr" fontAlgn="b"/>
                      <a:r>
                        <a:rPr lang="en-PT" sz="2000" u="none" strike="noStrike">
                          <a:effectLst/>
                        </a:rPr>
                        <a:t>9</a:t>
                      </a:r>
                      <a:endParaRPr lang="en-PT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u="none" strike="noStrike" dirty="0" err="1">
                          <a:effectLst/>
                        </a:rPr>
                        <a:t>Tutoria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PT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37998250"/>
                  </a:ext>
                </a:extLst>
              </a:tr>
              <a:tr h="321295">
                <a:tc>
                  <a:txBody>
                    <a:bodyPr/>
                    <a:lstStyle/>
                    <a:p>
                      <a:pPr algn="ctr" fontAlgn="b"/>
                      <a:r>
                        <a:rPr lang="en-PT" sz="2000" u="none" strike="noStrike">
                          <a:effectLst/>
                        </a:rPr>
                        <a:t>10</a:t>
                      </a:r>
                      <a:endParaRPr lang="en-PT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u="none" strike="noStrike" dirty="0" err="1">
                          <a:effectLst/>
                        </a:rPr>
                        <a:t>Tutoria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PT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45083612"/>
                  </a:ext>
                </a:extLst>
              </a:tr>
              <a:tr h="321295">
                <a:tc>
                  <a:txBody>
                    <a:bodyPr/>
                    <a:lstStyle/>
                    <a:p>
                      <a:pPr algn="ctr" fontAlgn="b"/>
                      <a:r>
                        <a:rPr lang="en-PT" sz="2000" u="none" strike="noStrike">
                          <a:effectLst/>
                        </a:rPr>
                        <a:t>11</a:t>
                      </a:r>
                      <a:endParaRPr lang="en-PT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u="none" strike="noStrike" dirty="0" err="1">
                          <a:effectLst/>
                        </a:rPr>
                        <a:t>Tutoria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u="none" strike="noStrike">
                          <a:effectLst/>
                        </a:rPr>
                        <a:t>Entrega relatórios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4700478"/>
                  </a:ext>
                </a:extLst>
              </a:tr>
              <a:tr h="321295">
                <a:tc>
                  <a:txBody>
                    <a:bodyPr/>
                    <a:lstStyle/>
                    <a:p>
                      <a:pPr algn="ctr" fontAlgn="b"/>
                      <a:r>
                        <a:rPr lang="en-PT" sz="2000" u="none" strike="noStrike">
                          <a:effectLst/>
                        </a:rPr>
                        <a:t>12</a:t>
                      </a:r>
                      <a:endParaRPr lang="en-PT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u="none" strike="noStrike" dirty="0">
                          <a:effectLst/>
                        </a:rPr>
                        <a:t>Workshop: </a:t>
                      </a:r>
                      <a:r>
                        <a:rPr lang="en-GB" sz="2000" u="none" strike="noStrike" dirty="0" err="1">
                          <a:effectLst/>
                        </a:rPr>
                        <a:t>Apresentações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PT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510217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3791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47BB9-AC81-D048-B9E2-7C9900C66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Funcionamento</a:t>
            </a:r>
            <a:endParaRPr lang="pt-P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0B6CA-8BE8-AC48-9D31-15A1ACA4B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641" y="1482440"/>
            <a:ext cx="8291726" cy="4623473"/>
          </a:xfrm>
        </p:spPr>
        <p:txBody>
          <a:bodyPr>
            <a:noAutofit/>
          </a:bodyPr>
          <a:lstStyle/>
          <a:p>
            <a:r>
              <a:rPr lang="pt-PT" sz="2400" dirty="0"/>
              <a:t>O grupo prepara uma </a:t>
            </a:r>
            <a:r>
              <a:rPr lang="pt-PT" sz="2400" dirty="0">
                <a:solidFill>
                  <a:srgbClr val="0070C0"/>
                </a:solidFill>
              </a:rPr>
              <a:t>descrição sumária do progresso semanal</a:t>
            </a:r>
            <a:r>
              <a:rPr lang="pt-PT" sz="2400" dirty="0"/>
              <a:t>, indicando também </a:t>
            </a:r>
            <a:r>
              <a:rPr lang="pt-PT" sz="2400" dirty="0">
                <a:solidFill>
                  <a:srgbClr val="0070C0"/>
                </a:solidFill>
              </a:rPr>
              <a:t>desafios e limitações encontradas</a:t>
            </a:r>
          </a:p>
          <a:p>
            <a:r>
              <a:rPr lang="pt-PT" sz="2400" dirty="0"/>
              <a:t>O </a:t>
            </a:r>
            <a:r>
              <a:rPr lang="pt-PT" sz="2400" dirty="0">
                <a:solidFill>
                  <a:srgbClr val="0070C0"/>
                </a:solidFill>
              </a:rPr>
              <a:t>responsável semanal </a:t>
            </a:r>
            <a:r>
              <a:rPr lang="pt-PT" sz="2400" dirty="0"/>
              <a:t>é nomeado ou “eleito” em rotatividade</a:t>
            </a:r>
          </a:p>
          <a:p>
            <a:pPr lvl="1"/>
            <a:r>
              <a:rPr lang="pt-PT" sz="2000" dirty="0"/>
              <a:t>Deve apresentar o </a:t>
            </a:r>
            <a:r>
              <a:rPr lang="pt-PT" sz="2000" dirty="0">
                <a:solidFill>
                  <a:srgbClr val="0070C0"/>
                </a:solidFill>
              </a:rPr>
              <a:t>progresso da semana</a:t>
            </a:r>
            <a:r>
              <a:rPr lang="pt-PT" sz="2000" dirty="0"/>
              <a:t>, as questões entretanto surgidas e o plano para a semana seguinte (</a:t>
            </a:r>
            <a:r>
              <a:rPr lang="pt-PT" sz="2000" dirty="0" err="1"/>
              <a:t>pitch</a:t>
            </a:r>
            <a:r>
              <a:rPr lang="pt-PT" sz="2000" dirty="0"/>
              <a:t> 5m)</a:t>
            </a:r>
          </a:p>
          <a:p>
            <a:pPr lvl="1"/>
            <a:r>
              <a:rPr lang="pt-PT" sz="2000" dirty="0"/>
              <a:t>Deve estar preparado para discutir opções</a:t>
            </a:r>
          </a:p>
          <a:p>
            <a:r>
              <a:rPr lang="pt-PT" sz="2400" dirty="0"/>
              <a:t>A equipa deve </a:t>
            </a:r>
            <a:r>
              <a:rPr lang="pt-PT" sz="2400" dirty="0">
                <a:solidFill>
                  <a:srgbClr val="0070C0"/>
                </a:solidFill>
              </a:rPr>
              <a:t>apoiar</a:t>
            </a:r>
            <a:r>
              <a:rPr lang="pt-PT" sz="2400" dirty="0"/>
              <a:t> a pessoa responsável nessa semana</a:t>
            </a:r>
          </a:p>
          <a:p>
            <a:r>
              <a:rPr lang="pt-PT" sz="2400" dirty="0"/>
              <a:t>A resolução das questões será discutida em aula</a:t>
            </a:r>
          </a:p>
          <a:p>
            <a:pPr lvl="1"/>
            <a:r>
              <a:rPr lang="pt-PT" sz="2000" dirty="0"/>
              <a:t>Tal não impede que, se necessário, que se possa acordar com o docente tratar de alguma situação anormal fora do tempo de aula</a:t>
            </a:r>
          </a:p>
        </p:txBody>
      </p:sp>
      <p:pic>
        <p:nvPicPr>
          <p:cNvPr id="6" name="Picture Placeholder 4" descr="Free photo graphic designers in a meeting">
            <a:extLst>
              <a:ext uri="{FF2B5EF4-FFF2-40B4-BE49-F238E27FC236}">
                <a16:creationId xmlns:a16="http://schemas.microsoft.com/office/drawing/2014/main" id="{EA460323-F39A-6D44-9CFE-3227FA2BC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75" r="26475"/>
          <a:stretch/>
        </p:blipFill>
        <p:spPr bwMode="auto">
          <a:xfrm>
            <a:off x="8710367" y="1482440"/>
            <a:ext cx="3022597" cy="4279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6534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E08BD17-9FEE-FB44-8A1A-755A9905F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Some </a:t>
            </a:r>
            <a:r>
              <a:rPr lang="pt-PT" dirty="0" err="1"/>
              <a:t>hints</a:t>
            </a:r>
            <a:endParaRPr lang="pt-P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69B9E9-5EE6-5243-BBBF-07C8AA7A79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Slides </a:t>
            </a:r>
            <a:r>
              <a:rPr lang="pt-PT" dirty="0" err="1"/>
              <a:t>based</a:t>
            </a:r>
            <a:r>
              <a:rPr lang="pt-PT" dirty="0"/>
              <a:t> </a:t>
            </a:r>
            <a:r>
              <a:rPr lang="pt-PT" dirty="0" err="1"/>
              <a:t>on</a:t>
            </a:r>
            <a:r>
              <a:rPr lang="pt-PT" dirty="0"/>
              <a:t> </a:t>
            </a:r>
            <a:r>
              <a:rPr lang="pt-PT" dirty="0" err="1"/>
              <a:t>materials</a:t>
            </a:r>
            <a:r>
              <a:rPr lang="pt-PT" dirty="0"/>
              <a:t> </a:t>
            </a:r>
            <a:r>
              <a:rPr lang="pt-PT" dirty="0" err="1"/>
              <a:t>produced</a:t>
            </a:r>
            <a:r>
              <a:rPr lang="pt-PT" dirty="0"/>
              <a:t> </a:t>
            </a:r>
            <a:r>
              <a:rPr lang="pt-PT" dirty="0" err="1"/>
              <a:t>by</a:t>
            </a:r>
            <a:r>
              <a:rPr lang="pt-PT" dirty="0"/>
              <a:t> Luís Nunes (</a:t>
            </a:r>
            <a:r>
              <a:rPr lang="pt-PT" dirty="0" err="1"/>
              <a:t>Iscte</a:t>
            </a:r>
            <a:r>
              <a:rPr lang="pt-P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5860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Free photo abstract app social web service object">
            <a:extLst>
              <a:ext uri="{FF2B5EF4-FFF2-40B4-BE49-F238E27FC236}">
                <a16:creationId xmlns:a16="http://schemas.microsoft.com/office/drawing/2014/main" id="{C860F2D1-2F60-43FD-B898-1AF40566E8CD}"/>
              </a:ext>
            </a:extLst>
          </p:cNvPr>
          <p:cNvPicPr>
            <a:picLocks noGrp="1" noChangeAspect="1" noChangeArrowheads="1"/>
          </p:cNvPicPr>
          <p:nvPr>
            <p:ph type="pic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28" r="25328"/>
          <a:stretch/>
        </p:blipFill>
        <p:spPr bwMode="auto">
          <a:xfrm>
            <a:off x="7112000" y="0"/>
            <a:ext cx="5080000" cy="6858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77AECAA-2B64-1C34-B524-8B9B0E14340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6100" y="1411357"/>
            <a:ext cx="6361596" cy="4552088"/>
          </a:xfrm>
        </p:spPr>
        <p:txBody>
          <a:bodyPr/>
          <a:lstStyle/>
          <a:p>
            <a:pPr lvl="0"/>
            <a:r>
              <a:rPr lang="en-US" dirty="0"/>
              <a:t>look at the available data</a:t>
            </a:r>
          </a:p>
          <a:p>
            <a:pPr lvl="0"/>
            <a:r>
              <a:rPr lang="en-US" dirty="0"/>
              <a:t>Read about the problem</a:t>
            </a:r>
          </a:p>
          <a:p>
            <a:pPr lvl="0"/>
            <a:r>
              <a:rPr lang="en-US" dirty="0"/>
              <a:t>Talk to experts</a:t>
            </a:r>
          </a:p>
          <a:p>
            <a:r>
              <a:rPr lang="en-US" dirty="0"/>
              <a:t>Search for related data that can be used</a:t>
            </a:r>
          </a:p>
          <a:p>
            <a:pPr lvl="0"/>
            <a:r>
              <a:rPr lang="en-US" dirty="0"/>
              <a:t>Test (when possible)</a:t>
            </a:r>
          </a:p>
          <a:p>
            <a:pPr lvl="0"/>
            <a:r>
              <a:rPr lang="en-US" dirty="0"/>
              <a:t>…</a:t>
            </a:r>
          </a:p>
          <a:p>
            <a:endParaRPr lang="pt-PT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B7FB1B4-83C4-153C-79D6-6001F3A3F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099" y="401841"/>
            <a:ext cx="6361596" cy="706030"/>
          </a:xfrm>
        </p:spPr>
        <p:txBody>
          <a:bodyPr/>
          <a:lstStyle/>
          <a:p>
            <a:r>
              <a:rPr lang="en-US"/>
              <a:t>Understand the Problem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551711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Free photo business concept with progress close up">
            <a:extLst>
              <a:ext uri="{FF2B5EF4-FFF2-40B4-BE49-F238E27FC236}">
                <a16:creationId xmlns:a16="http://schemas.microsoft.com/office/drawing/2014/main" id="{AF335367-FC9C-420A-AAE3-6C9C06CD0897}"/>
              </a:ext>
            </a:extLst>
          </p:cNvPr>
          <p:cNvPicPr>
            <a:picLocks noGrp="1" noChangeAspect="1" noChangeArrowheads="1"/>
          </p:cNvPicPr>
          <p:nvPr>
            <p:ph type="pic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69" r="25269"/>
          <a:stretch/>
        </p:blipFill>
        <p:spPr bwMode="auto">
          <a:xfrm>
            <a:off x="7112000" y="0"/>
            <a:ext cx="5080000" cy="6858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2D8DC1-33B3-441C-AA17-184035895FC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6100" y="1411357"/>
            <a:ext cx="6361596" cy="4552088"/>
          </a:xfrm>
        </p:spPr>
        <p:txBody>
          <a:bodyPr/>
          <a:lstStyle/>
          <a:p>
            <a:r>
              <a:rPr lang="en-GB" dirty="0"/>
              <a:t>Number of records</a:t>
            </a:r>
          </a:p>
          <a:p>
            <a:r>
              <a:rPr lang="en-GB" dirty="0"/>
              <a:t>Number of attributes (or features)</a:t>
            </a:r>
          </a:p>
          <a:p>
            <a:r>
              <a:rPr lang="en-GB" dirty="0"/>
              <a:t>Attribute data types </a:t>
            </a:r>
          </a:p>
          <a:p>
            <a:pPr lvl="1"/>
            <a:r>
              <a:rPr lang="en-GB" dirty="0"/>
              <a:t>nominal, ordinal, or continuous.</a:t>
            </a:r>
          </a:p>
          <a:p>
            <a:r>
              <a:rPr lang="en-GB" dirty="0"/>
              <a:t>Missing values</a:t>
            </a:r>
          </a:p>
          <a:p>
            <a:r>
              <a:rPr lang="en-GB" dirty="0"/>
              <a:t>Well-formedness: </a:t>
            </a:r>
          </a:p>
          <a:p>
            <a:pPr lvl="1"/>
            <a:r>
              <a:rPr lang="en-GB" dirty="0"/>
              <a:t>unstructured =&gt; structured</a:t>
            </a:r>
          </a:p>
          <a:p>
            <a:r>
              <a:rPr lang="en-GB" dirty="0"/>
              <a:t>Inconsistency: values are in range, …</a:t>
            </a:r>
          </a:p>
          <a:p>
            <a:r>
              <a:rPr lang="en-GB" dirty="0"/>
              <a:t>Calculated values are well-defined</a:t>
            </a:r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67A9A500-7393-C753-E0E6-99342D401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099" y="401841"/>
            <a:ext cx="6361596" cy="706030"/>
          </a:xfrm>
        </p:spPr>
        <p:txBody>
          <a:bodyPr/>
          <a:lstStyle/>
          <a:p>
            <a:r>
              <a:rPr lang="en-GB" dirty="0"/>
              <a:t>Data Quality Assessment</a:t>
            </a:r>
          </a:p>
        </p:txBody>
      </p:sp>
    </p:spTree>
    <p:extLst>
      <p:ext uri="{BB962C8B-B14F-4D97-AF65-F5344CB8AC3E}">
        <p14:creationId xmlns:p14="http://schemas.microsoft.com/office/powerpoint/2010/main" val="789384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A67627-2333-54FA-41FA-46A908543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PT"/>
              <a:t>Explore data</a:t>
            </a:r>
            <a:endParaRPr lang="pt-PT" dirty="0"/>
          </a:p>
        </p:txBody>
      </p:sp>
      <p:pic>
        <p:nvPicPr>
          <p:cNvPr id="8" name="Imagem 4">
            <a:extLst>
              <a:ext uri="{FF2B5EF4-FFF2-40B4-BE49-F238E27FC236}">
                <a16:creationId xmlns:a16="http://schemas.microsoft.com/office/drawing/2014/main" id="{B1D5E640-9610-4EA7-832C-D26F0D3F5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184" y="1495512"/>
            <a:ext cx="6346849" cy="4866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705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hoto a conveyor belt filled with lots of hot dogs industrial production of sausage and meat in a modern plant smoking of sausages and meat products">
            <a:extLst>
              <a:ext uri="{FF2B5EF4-FFF2-40B4-BE49-F238E27FC236}">
                <a16:creationId xmlns:a16="http://schemas.microsoft.com/office/drawing/2014/main" id="{0AC54799-13A4-48ED-88BA-FB40C9BE0513}"/>
              </a:ext>
            </a:extLst>
          </p:cNvPr>
          <p:cNvPicPr>
            <a:picLocks noGrp="1" noChangeAspect="1" noChangeArrowheads="1"/>
          </p:cNvPicPr>
          <p:nvPr>
            <p:ph type="pic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28" r="25328"/>
          <a:stretch/>
        </p:blipFill>
        <p:spPr bwMode="auto">
          <a:xfrm>
            <a:off x="7112000" y="0"/>
            <a:ext cx="5080000" cy="6858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2D8DC1-33B3-441C-AA17-184035895FC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6100" y="1411357"/>
            <a:ext cx="6361596" cy="4552088"/>
          </a:xfrm>
        </p:spPr>
        <p:txBody>
          <a:bodyPr/>
          <a:lstStyle/>
          <a:p>
            <a:r>
              <a:rPr lang="en-US" dirty="0"/>
              <a:t>data cleaning: fill in missing values; detect and remove noisy data and outliers.</a:t>
            </a:r>
          </a:p>
          <a:p>
            <a:r>
              <a:rPr lang="en-US" dirty="0"/>
              <a:t>data transformation: normalize data to reduce dimensions and noise; decompose/aggregate</a:t>
            </a:r>
          </a:p>
          <a:p>
            <a:r>
              <a:rPr lang="en-US" dirty="0"/>
              <a:t>data reduction:  if possible, reduce the data sample set  (time efficiency) and balance classes</a:t>
            </a:r>
          </a:p>
          <a:p>
            <a:r>
              <a:rPr lang="en-US" dirty="0"/>
              <a:t>data discretization: convert continuous into categorical  attributes</a:t>
            </a:r>
          </a:p>
          <a:p>
            <a:r>
              <a:rPr lang="en-US" dirty="0"/>
              <a:t>cleaning: remove embedded characters;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ED61CC68-84A1-CAD3-E3F0-088F100F6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099" y="401841"/>
            <a:ext cx="6361596" cy="706030"/>
          </a:xfrm>
        </p:spPr>
        <p:txBody>
          <a:bodyPr/>
          <a:lstStyle/>
          <a:p>
            <a:r>
              <a:rPr lang="pt-PT" dirty="0" err="1"/>
              <a:t>Pre-processing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986815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Free photo motivational composition for goal achievement">
            <a:extLst>
              <a:ext uri="{FF2B5EF4-FFF2-40B4-BE49-F238E27FC236}">
                <a16:creationId xmlns:a16="http://schemas.microsoft.com/office/drawing/2014/main" id="{D60DDFC7-5156-4CC3-B0CF-E4FA78E569EB}"/>
              </a:ext>
            </a:extLst>
          </p:cNvPr>
          <p:cNvPicPr>
            <a:picLocks noGrp="1" noChangeAspect="1" noChangeArrowheads="1"/>
          </p:cNvPicPr>
          <p:nvPr>
            <p:ph type="pic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69" r="25269"/>
          <a:stretch/>
        </p:blipFill>
        <p:spPr bwMode="auto">
          <a:xfrm>
            <a:off x="7112000" y="0"/>
            <a:ext cx="5080000" cy="6858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2D8DC1-33B3-441C-AA17-184035895FC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6100" y="1411357"/>
            <a:ext cx="6361596" cy="4552088"/>
          </a:xfrm>
        </p:spPr>
        <p:txBody>
          <a:bodyPr/>
          <a:lstStyle/>
          <a:p>
            <a:r>
              <a:rPr lang="en-US" dirty="0"/>
              <a:t>If possible, identify why are they missing … </a:t>
            </a:r>
            <a:br>
              <a:rPr lang="en-US" dirty="0"/>
            </a:br>
            <a:r>
              <a:rPr lang="en-US" dirty="0"/>
              <a:t>then choose … </a:t>
            </a:r>
          </a:p>
          <a:p>
            <a:r>
              <a:rPr lang="en-US" dirty="0"/>
              <a:t>deletion: </a:t>
            </a:r>
          </a:p>
          <a:p>
            <a:pPr lvl="1"/>
            <a:r>
              <a:rPr lang="en-US" dirty="0"/>
              <a:t>just remove the records with missing values;</a:t>
            </a:r>
          </a:p>
          <a:p>
            <a:r>
              <a:rPr lang="en-US" dirty="0"/>
              <a:t>substitution:</a:t>
            </a:r>
          </a:p>
          <a:p>
            <a:pPr lvl="1"/>
            <a:r>
              <a:rPr lang="en-US" dirty="0"/>
              <a:t>dummy (</a:t>
            </a:r>
            <a:r>
              <a:rPr lang="en-US" dirty="0" err="1"/>
              <a:t>e.g</a:t>
            </a:r>
            <a:r>
              <a:rPr lang="en-US" dirty="0"/>
              <a:t>: unknown – categorical; 0 (zero) – numerical)</a:t>
            </a:r>
          </a:p>
          <a:p>
            <a:pPr lvl="1"/>
            <a:r>
              <a:rPr lang="en-US" dirty="0"/>
              <a:t>averaged value (e.g.: geometric mean – numerical)</a:t>
            </a:r>
          </a:p>
          <a:p>
            <a:pPr lvl="1"/>
            <a:r>
              <a:rPr lang="en-US" dirty="0">
                <a:sym typeface="Wingdings"/>
              </a:rPr>
              <a:t>(most) frequent value </a:t>
            </a:r>
          </a:p>
          <a:p>
            <a:pPr lvl="1"/>
            <a:r>
              <a:rPr lang="en-US" dirty="0">
                <a:sym typeface="Wingdings"/>
              </a:rPr>
              <a:t>regression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900C3B1-E373-6ABA-F103-F6A744F16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099" y="401841"/>
            <a:ext cx="6361596" cy="706030"/>
          </a:xfrm>
        </p:spPr>
        <p:txBody>
          <a:bodyPr/>
          <a:lstStyle/>
          <a:p>
            <a:r>
              <a:rPr lang="pt-PT" dirty="0" err="1"/>
              <a:t>Missing</a:t>
            </a:r>
            <a:r>
              <a:rPr lang="pt-PT" dirty="0"/>
              <a:t> </a:t>
            </a:r>
            <a:r>
              <a:rPr lang="pt-PT" dirty="0" err="1"/>
              <a:t>Values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886343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34A18539-FCE8-1DA2-474E-A1007B0E69D4}"/>
              </a:ext>
            </a:extLst>
          </p:cNvPr>
          <p:cNvSpPr>
            <a:spLocks noGrp="1"/>
          </p:cNvSpPr>
          <p:nvPr>
            <p:ph type="pic" idx="13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2D8DC1-33B3-441C-AA17-184035895FC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6100" y="1411357"/>
            <a:ext cx="6361596" cy="4552088"/>
          </a:xfrm>
        </p:spPr>
        <p:txBody>
          <a:bodyPr/>
          <a:lstStyle/>
          <a:p>
            <a:r>
              <a:rPr lang="en-US" dirty="0"/>
              <a:t>Under-sample</a:t>
            </a:r>
          </a:p>
          <a:p>
            <a:pPr lvl="1"/>
            <a:r>
              <a:rPr lang="en-US" dirty="0"/>
              <a:t>Stratified</a:t>
            </a:r>
          </a:p>
          <a:p>
            <a:r>
              <a:rPr lang="en-US" dirty="0"/>
              <a:t>Oversample</a:t>
            </a:r>
          </a:p>
          <a:p>
            <a:pPr lvl="1"/>
            <a:r>
              <a:rPr lang="en-US" dirty="0"/>
              <a:t>SMOTE</a:t>
            </a:r>
          </a:p>
          <a:p>
            <a:pPr lvl="1"/>
            <a:r>
              <a:rPr lang="en-US" dirty="0"/>
              <a:t>Random Oversampling</a:t>
            </a:r>
          </a:p>
          <a:p>
            <a:pPr lvl="1"/>
            <a:r>
              <a:rPr lang="en-US" dirty="0" err="1"/>
              <a:t>AdaSYN</a:t>
            </a:r>
            <a:endParaRPr lang="en-US" dirty="0"/>
          </a:p>
          <a:p>
            <a:pPr lvl="1"/>
            <a:r>
              <a:rPr lang="en-US" dirty="0"/>
              <a:t>…</a:t>
            </a:r>
          </a:p>
          <a:p>
            <a:r>
              <a:rPr lang="en-US" altLang="pt-PT" b="1" dirty="0">
                <a:solidFill>
                  <a:srgbClr val="00B0F0"/>
                </a:solidFill>
              </a:rPr>
              <a:t>Do not use oversampled data to test or validate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F47A62-AD94-125B-6F8D-D0EBE07C7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099" y="401841"/>
            <a:ext cx="6361596" cy="706030"/>
          </a:xfrm>
        </p:spPr>
        <p:txBody>
          <a:bodyPr/>
          <a:lstStyle/>
          <a:p>
            <a:r>
              <a:rPr lang="en-US"/>
              <a:t>Class imbalance</a:t>
            </a:r>
            <a:endParaRPr lang="pt-PT" dirty="0"/>
          </a:p>
        </p:txBody>
      </p:sp>
      <p:pic>
        <p:nvPicPr>
          <p:cNvPr id="10242" name="Picture 2" descr="Photo meditation stones and plume isolated on white background. concept of heavy and light.">
            <a:extLst>
              <a:ext uri="{FF2B5EF4-FFF2-40B4-BE49-F238E27FC236}">
                <a16:creationId xmlns:a16="http://schemas.microsoft.com/office/drawing/2014/main" id="{772D719D-0024-4585-9DB7-F91D9E4D6A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6745" y="1519237"/>
            <a:ext cx="5206175" cy="3476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Free photo important caution attention alert risk stop">
            <a:extLst>
              <a:ext uri="{FF2B5EF4-FFF2-40B4-BE49-F238E27FC236}">
                <a16:creationId xmlns:a16="http://schemas.microsoft.com/office/drawing/2014/main" id="{4BFDE585-CC4F-48FB-90E4-DFE186A606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64801">
            <a:off x="8863441" y="1349587"/>
            <a:ext cx="932783" cy="1507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7767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E08BD17-9FEE-FB44-8A1A-755A9905F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Base de dados da ANSR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69B9E9-5EE6-5243-BBBF-07C8AA7A79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Acidentes rodoviários nas várias regiões do país</a:t>
            </a:r>
          </a:p>
        </p:txBody>
      </p:sp>
    </p:spTree>
    <p:extLst>
      <p:ext uri="{BB962C8B-B14F-4D97-AF65-F5344CB8AC3E}">
        <p14:creationId xmlns:p14="http://schemas.microsoft.com/office/powerpoint/2010/main" val="4112538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23A43-5208-3241-BF75-C91F589AB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PT" noProof="0" dirty="0"/>
              <a:t>Acidentes rodoviários nas várias regiões do país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1A77E-C4AF-854D-97AE-1ECFC5FAE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noProof="0" dirty="0"/>
              <a:t>Ficheiros </a:t>
            </a:r>
            <a:r>
              <a:rPr lang="pt-PT" noProof="0" dirty="0" err="1"/>
              <a:t>excel</a:t>
            </a:r>
            <a:r>
              <a:rPr lang="pt-PT" noProof="0" dirty="0"/>
              <a:t> relativo ao período 2010 a 2019 e também 2023</a:t>
            </a:r>
          </a:p>
          <a:p>
            <a:pPr lvl="1"/>
            <a:r>
              <a:rPr lang="pt-PT" dirty="0"/>
              <a:t>Em processo de obter os dados de 2024</a:t>
            </a:r>
            <a:endParaRPr lang="pt-PT" noProof="0" dirty="0"/>
          </a:p>
          <a:p>
            <a:r>
              <a:rPr lang="pt-PT" noProof="0" dirty="0"/>
              <a:t>Tabelas</a:t>
            </a:r>
          </a:p>
          <a:p>
            <a:pPr lvl="1"/>
            <a:r>
              <a:rPr lang="pt-PT" b="1" noProof="0" dirty="0"/>
              <a:t>Condutores de veículos</a:t>
            </a:r>
            <a:r>
              <a:rPr lang="pt-PT" noProof="0" dirty="0"/>
              <a:t> - 30 </a:t>
            </a:r>
            <a:r>
              <a:rPr lang="pt-PT" noProof="0" dirty="0" err="1"/>
              <a:t>Dias_Cond_Veic</a:t>
            </a:r>
            <a:r>
              <a:rPr lang="pt-PT" noProof="0" dirty="0"/>
              <a:t> (55K registos em 2019)</a:t>
            </a:r>
          </a:p>
          <a:p>
            <a:pPr lvl="1"/>
            <a:r>
              <a:rPr lang="pt-PT" b="1" noProof="0" dirty="0"/>
              <a:t>Passageiros</a:t>
            </a:r>
            <a:r>
              <a:rPr lang="pt-PT" noProof="0" dirty="0"/>
              <a:t> - 30 </a:t>
            </a:r>
            <a:r>
              <a:rPr lang="pt-PT" noProof="0" dirty="0" err="1"/>
              <a:t>Dias_Passag</a:t>
            </a:r>
            <a:r>
              <a:rPr lang="pt-PT" noProof="0" dirty="0"/>
              <a:t> (11K registos em 2019)</a:t>
            </a:r>
          </a:p>
          <a:p>
            <a:pPr lvl="1"/>
            <a:r>
              <a:rPr lang="pt-PT" b="1" noProof="0" dirty="0"/>
              <a:t>Acidentes</a:t>
            </a:r>
            <a:r>
              <a:rPr lang="pt-PT" noProof="0" dirty="0"/>
              <a:t> - 30 Dias _ Acidentes (26K registos em 2019)</a:t>
            </a:r>
          </a:p>
          <a:p>
            <a:pPr lvl="1"/>
            <a:r>
              <a:rPr lang="pt-PT" b="1" noProof="0" dirty="0"/>
              <a:t>Peões </a:t>
            </a:r>
            <a:r>
              <a:rPr lang="pt-PT" noProof="0" dirty="0"/>
              <a:t>- 30 </a:t>
            </a:r>
            <a:r>
              <a:rPr lang="pt-PT" noProof="0" dirty="0" err="1"/>
              <a:t>Dias_Peões</a:t>
            </a:r>
            <a:r>
              <a:rPr lang="pt-PT" noProof="0" dirty="0"/>
              <a:t> (6K registos em 2019)</a:t>
            </a:r>
          </a:p>
        </p:txBody>
      </p:sp>
    </p:spTree>
    <p:extLst>
      <p:ext uri="{BB962C8B-B14F-4D97-AF65-F5344CB8AC3E}">
        <p14:creationId xmlns:p14="http://schemas.microsoft.com/office/powerpoint/2010/main" val="2068809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8728D-08B6-C846-921F-EC54EFAB3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noProof="0" dirty="0">
                <a:solidFill>
                  <a:schemeClr val="bg1">
                    <a:lumMod val="50000"/>
                  </a:schemeClr>
                </a:solidFill>
              </a:rPr>
              <a:t>Acidentes rodoviários</a:t>
            </a:r>
            <a:br>
              <a:rPr lang="pt-PT" noProof="0" dirty="0"/>
            </a:br>
            <a:r>
              <a:rPr lang="pt-PT" noProof="0" dirty="0"/>
              <a:t>30 </a:t>
            </a:r>
            <a:r>
              <a:rPr lang="pt-PT" noProof="0" dirty="0" err="1"/>
              <a:t>Dias_Cond_Veic</a:t>
            </a:r>
            <a:r>
              <a:rPr lang="pt-PT" noProof="0" dirty="0"/>
              <a:t> (55K registos em 2019)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673EA502-44A7-3046-8283-CD7772DFF1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3305927"/>
              </p:ext>
            </p:extLst>
          </p:nvPr>
        </p:nvGraphicFramePr>
        <p:xfrm>
          <a:off x="419099" y="1396143"/>
          <a:ext cx="11313864" cy="5093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3559">
                  <a:extLst>
                    <a:ext uri="{9D8B030D-6E8A-4147-A177-3AD203B41FA5}">
                      <a16:colId xmlns:a16="http://schemas.microsoft.com/office/drawing/2014/main" val="367267077"/>
                    </a:ext>
                  </a:extLst>
                </a:gridCol>
                <a:gridCol w="2244071">
                  <a:extLst>
                    <a:ext uri="{9D8B030D-6E8A-4147-A177-3AD203B41FA5}">
                      <a16:colId xmlns:a16="http://schemas.microsoft.com/office/drawing/2014/main" val="1263642935"/>
                    </a:ext>
                  </a:extLst>
                </a:gridCol>
                <a:gridCol w="1813391">
                  <a:extLst>
                    <a:ext uri="{9D8B030D-6E8A-4147-A177-3AD203B41FA5}">
                      <a16:colId xmlns:a16="http://schemas.microsoft.com/office/drawing/2014/main" val="3599977672"/>
                    </a:ext>
                  </a:extLst>
                </a:gridCol>
                <a:gridCol w="2119402">
                  <a:extLst>
                    <a:ext uri="{9D8B030D-6E8A-4147-A177-3AD203B41FA5}">
                      <a16:colId xmlns:a16="http://schemas.microsoft.com/office/drawing/2014/main" val="703851283"/>
                    </a:ext>
                  </a:extLst>
                </a:gridCol>
                <a:gridCol w="3343441">
                  <a:extLst>
                    <a:ext uri="{9D8B030D-6E8A-4147-A177-3AD203B41FA5}">
                      <a16:colId xmlns:a16="http://schemas.microsoft.com/office/drawing/2014/main" val="603944224"/>
                    </a:ext>
                  </a:extLst>
                </a:gridCol>
              </a:tblGrid>
              <a:tr h="107544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Id. Acidente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20191684872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20191654557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20191652791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20191684737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2409433571"/>
                  </a:ext>
                </a:extLst>
              </a:tr>
              <a:tr h="107544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Datahora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T" sz="800" u="none" strike="noStrike">
                          <a:effectLst/>
                        </a:rPr>
                        <a:t>2019:01:01 00:03:00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T" sz="800" u="none" strike="noStrike">
                          <a:effectLst/>
                        </a:rPr>
                        <a:t>2019:01:01 00:55:00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T" sz="800" u="none" strike="noStrike">
                          <a:effectLst/>
                        </a:rPr>
                        <a:t>2019:01:01 01:00:00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T" sz="800" u="none" strike="noStrike">
                          <a:effectLst/>
                        </a:rPr>
                        <a:t>2019:01:01 01:00:00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1862824874"/>
                  </a:ext>
                </a:extLst>
              </a:tr>
              <a:tr h="107544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Sexo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Masculino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Masculino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Feminino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Masculino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3193361860"/>
                  </a:ext>
                </a:extLst>
              </a:tr>
              <a:tr h="107544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Lesões a 30 dias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Ferido leve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Ileso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Ferido leve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Ferido leve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2762369348"/>
                  </a:ext>
                </a:extLst>
              </a:tr>
              <a:tr h="107544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Licença Condução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Com licença/ carta adequada ao veiculo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NÃO DEFINIDO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Com licença/ carta adequada ao veiculo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Com licença/ carta adequada ao veiculo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161315921"/>
                  </a:ext>
                </a:extLst>
              </a:tr>
              <a:tr h="119555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Teste Alcool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Submetido ao teste do álcoolemia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Submetido ao teste do álcoolemia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Submetido ao teste do álcoolemia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Não submetido condutor não contactado na altura do acidente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252482412"/>
                  </a:ext>
                </a:extLst>
              </a:tr>
              <a:tr h="107544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Acções Condutores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Em marcha normal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NÃO DEFINIDO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Em marcha normal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Em marcha normal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2862201551"/>
                  </a:ext>
                </a:extLst>
              </a:tr>
              <a:tr h="107544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Inf. Comp. a Acções e Manobras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Obstáculo imprevisto na faixa de rodagem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NÃO DEFINIDO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Não identificada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Não identificada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2910308078"/>
                  </a:ext>
                </a:extLst>
              </a:tr>
              <a:tr h="107544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Nomeoutrosfactores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Normal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Normal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Normal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Normal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3344737160"/>
                  </a:ext>
                </a:extLst>
              </a:tr>
              <a:tr h="107544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Tempo Condução Continuada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Menos de 1 hora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NÃO DEFINIDO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Menos de 1 hora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Menos de 1 hora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3686016926"/>
                  </a:ext>
                </a:extLst>
              </a:tr>
              <a:tr h="107544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Acessórios Condutores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Cinto de segurança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NÃO DEFINIDO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Cinto de segurança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Cinto de segurança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1550973173"/>
                  </a:ext>
                </a:extLst>
              </a:tr>
              <a:tr h="107544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Categoria Veículos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Automóvel ligeiro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Automóvel ligeiro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Automóvel ligeiro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Automóvel ligeiro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591072131"/>
                  </a:ext>
                </a:extLst>
              </a:tr>
              <a:tr h="107544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Tipo Veiculo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Passageiros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Passageiros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Passageiros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Passageiros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818999862"/>
                  </a:ext>
                </a:extLst>
              </a:tr>
              <a:tr h="107544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Tipo Serviço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Particular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Particular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Particular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Particular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1513106617"/>
                  </a:ext>
                </a:extLst>
              </a:tr>
              <a:tr h="107544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Veiculo Especial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NÃO DEFINIDO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NÃO DEFINIDO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NÃO DEFINIDO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NÃO DEFINIDO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2131560955"/>
                  </a:ext>
                </a:extLst>
              </a:tr>
              <a:tr h="107544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Ano matricula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2018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1998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2007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2009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2062633672"/>
                  </a:ext>
                </a:extLst>
              </a:tr>
              <a:tr h="107544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Inspecção Periódica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Válida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Válida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Válida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Válida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1007762190"/>
                  </a:ext>
                </a:extLst>
              </a:tr>
              <a:tr h="107544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Certificado Adr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NÃO DEFINIDO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NÃO DEFINIDO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NÃO DEFINIDO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NÃO DEFINIDO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3157919421"/>
                  </a:ext>
                </a:extLst>
              </a:tr>
              <a:tr h="107544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Carga Lotação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Sem carga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Sem carga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Sem carga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Sem carga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3692119867"/>
                  </a:ext>
                </a:extLst>
              </a:tr>
              <a:tr h="107544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Pneus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Sem deficiência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Sem deficiência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Sem deficiência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Sem deficiência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1148951445"/>
                  </a:ext>
                </a:extLst>
              </a:tr>
              <a:tr h="107544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Seguros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Com seguro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Com seguro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Com seguro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Com seguro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3071044219"/>
                  </a:ext>
                </a:extLst>
              </a:tr>
              <a:tr h="107544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Distrito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Aveiro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Porto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Lisboa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Porto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3094541949"/>
                  </a:ext>
                </a:extLst>
              </a:tr>
              <a:tr h="107544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Concelho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Santa Maria da Feira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Porto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Loures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Maia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1541603328"/>
                  </a:ext>
                </a:extLst>
              </a:tr>
              <a:tr h="107544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Condutor Gr.Etario(&lt;=5) SUM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1333503830"/>
                  </a:ext>
                </a:extLst>
              </a:tr>
              <a:tr h="107544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Condutor Gr.Etario(6-9) SUM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1645329926"/>
                  </a:ext>
                </a:extLst>
              </a:tr>
              <a:tr h="107544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Condutor Gr.Etario(10-14) SUM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1352507872"/>
                  </a:ext>
                </a:extLst>
              </a:tr>
              <a:tr h="107544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Condutor Gr.Etario(15-17) SUM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2527267541"/>
                  </a:ext>
                </a:extLst>
              </a:tr>
              <a:tr h="107544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Condutor Gr.Etario(18-20) SUM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2774878268"/>
                  </a:ext>
                </a:extLst>
              </a:tr>
              <a:tr h="107544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Condutor Gr.Etario(21-24) SUM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4257269164"/>
                  </a:ext>
                </a:extLst>
              </a:tr>
              <a:tr h="107544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Condutor Gr.Etario(25-29) SUM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1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3700351618"/>
                  </a:ext>
                </a:extLst>
              </a:tr>
              <a:tr h="107544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Condutor Gr.Etario(30-34) SUM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1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3368919972"/>
                  </a:ext>
                </a:extLst>
              </a:tr>
              <a:tr h="107544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Condutor Gr.Etario(35-39) SUM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1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753478458"/>
                  </a:ext>
                </a:extLst>
              </a:tr>
              <a:tr h="107544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Condutor Gr.Etario(40-44) SUM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83995952"/>
                  </a:ext>
                </a:extLst>
              </a:tr>
              <a:tr h="107544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Condutor Gr.Etario(45-49) SUM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1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2158010269"/>
                  </a:ext>
                </a:extLst>
              </a:tr>
              <a:tr h="107544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Condutor Gr.Etario(50-54) SUM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65917568"/>
                  </a:ext>
                </a:extLst>
              </a:tr>
              <a:tr h="107544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Condutor Gr.Etario(55-59) SUM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563113136"/>
                  </a:ext>
                </a:extLst>
              </a:tr>
              <a:tr h="107544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Condutor Gr.Etario(65-69) SUM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1494751375"/>
                  </a:ext>
                </a:extLst>
              </a:tr>
              <a:tr h="107544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Condutor Gr.Etario(70-74) SUM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1693899581"/>
                  </a:ext>
                </a:extLst>
              </a:tr>
              <a:tr h="107544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Condutor Gr.Etario(&gt;=75) SUM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2535649551"/>
                  </a:ext>
                </a:extLst>
              </a:tr>
              <a:tr h="119555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Condutor Gr.Etario(Não Def.) SUM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 dirty="0">
                          <a:effectLst/>
                        </a:rPr>
                        <a:t>0</a:t>
                      </a:r>
                      <a:endParaRPr lang="en-PT" sz="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417" marR="5417" marT="5417" marB="0" anchor="b"/>
                </a:tc>
                <a:extLst>
                  <a:ext uri="{0D108BD9-81ED-4DB2-BD59-A6C34878D82A}">
                    <a16:rowId xmlns:a16="http://schemas.microsoft.com/office/drawing/2014/main" val="368704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8595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1.48148E-6 L 0.46406 0.3794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203" y="1895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6406 0.39421 L 0.46406 -0.36644 " pathEditMode="relative" ptsTypes="AA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8728D-08B6-C846-921F-EC54EFAB3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noProof="0" dirty="0">
                <a:solidFill>
                  <a:schemeClr val="bg1">
                    <a:lumMod val="50000"/>
                  </a:schemeClr>
                </a:solidFill>
              </a:rPr>
              <a:t>Acidentes rodoviários</a:t>
            </a:r>
            <a:br>
              <a:rPr lang="pt-PT" noProof="0" dirty="0"/>
            </a:br>
            <a:r>
              <a:rPr lang="pt-PT" noProof="0" dirty="0"/>
              <a:t>30 </a:t>
            </a:r>
            <a:r>
              <a:rPr lang="pt-PT" noProof="0" dirty="0" err="1"/>
              <a:t>Dias_Passag</a:t>
            </a:r>
            <a:r>
              <a:rPr lang="pt-PT" noProof="0" dirty="0"/>
              <a:t> (11K registos em 2019)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B23B5EF-65ED-F44A-B54D-8CF30315E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3559754"/>
              </p:ext>
            </p:extLst>
          </p:nvPr>
        </p:nvGraphicFramePr>
        <p:xfrm>
          <a:off x="419099" y="1457325"/>
          <a:ext cx="11313864" cy="4859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7182">
                  <a:extLst>
                    <a:ext uri="{9D8B030D-6E8A-4147-A177-3AD203B41FA5}">
                      <a16:colId xmlns:a16="http://schemas.microsoft.com/office/drawing/2014/main" val="4098092901"/>
                    </a:ext>
                  </a:extLst>
                </a:gridCol>
                <a:gridCol w="2156510">
                  <a:extLst>
                    <a:ext uri="{9D8B030D-6E8A-4147-A177-3AD203B41FA5}">
                      <a16:colId xmlns:a16="http://schemas.microsoft.com/office/drawing/2014/main" val="3774179738"/>
                    </a:ext>
                  </a:extLst>
                </a:gridCol>
                <a:gridCol w="2156510">
                  <a:extLst>
                    <a:ext uri="{9D8B030D-6E8A-4147-A177-3AD203B41FA5}">
                      <a16:colId xmlns:a16="http://schemas.microsoft.com/office/drawing/2014/main" val="2167507128"/>
                    </a:ext>
                  </a:extLst>
                </a:gridCol>
                <a:gridCol w="2297152">
                  <a:extLst>
                    <a:ext uri="{9D8B030D-6E8A-4147-A177-3AD203B41FA5}">
                      <a16:colId xmlns:a16="http://schemas.microsoft.com/office/drawing/2014/main" val="3455645481"/>
                    </a:ext>
                  </a:extLst>
                </a:gridCol>
                <a:gridCol w="2156510">
                  <a:extLst>
                    <a:ext uri="{9D8B030D-6E8A-4147-A177-3AD203B41FA5}">
                      <a16:colId xmlns:a16="http://schemas.microsoft.com/office/drawing/2014/main" val="3855903640"/>
                    </a:ext>
                  </a:extLst>
                </a:gridCol>
              </a:tblGrid>
              <a:tr h="173548"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Id. Acidente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20191712233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20191670105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20191670105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20191670128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extLst>
                  <a:ext uri="{0D108BD9-81ED-4DB2-BD59-A6C34878D82A}">
                    <a16:rowId xmlns:a16="http://schemas.microsoft.com/office/drawing/2014/main" val="2923186163"/>
                  </a:ext>
                </a:extLst>
              </a:tr>
              <a:tr h="173548"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Datahora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T" sz="900" u="none" strike="noStrike">
                          <a:effectLst/>
                        </a:rPr>
                        <a:t>2019:06:18 17:00:00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T" sz="900" u="none" strike="noStrike">
                          <a:effectLst/>
                        </a:rPr>
                        <a:t>2019:03:30 18:15:00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T" sz="900" u="none" strike="noStrike">
                          <a:effectLst/>
                        </a:rPr>
                        <a:t>2019:03:30 18:15:00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T" sz="900" u="none" strike="noStrike">
                          <a:effectLst/>
                        </a:rPr>
                        <a:t>2019:04:03 17:20:00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extLst>
                  <a:ext uri="{0D108BD9-81ED-4DB2-BD59-A6C34878D82A}">
                    <a16:rowId xmlns:a16="http://schemas.microsoft.com/office/drawing/2014/main" val="3870192692"/>
                  </a:ext>
                </a:extLst>
              </a:tr>
              <a:tr h="173548"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Entidades Fiscalizadoras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Polícia de Segurança Pública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Polícia de Segurança Pública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Polícia de Segurança Pública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Polícia de Segurança Pública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extLst>
                  <a:ext uri="{0D108BD9-81ED-4DB2-BD59-A6C34878D82A}">
                    <a16:rowId xmlns:a16="http://schemas.microsoft.com/office/drawing/2014/main" val="725077601"/>
                  </a:ext>
                </a:extLst>
              </a:tr>
              <a:tr h="173548"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Id. Passageiro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1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1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2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1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extLst>
                  <a:ext uri="{0D108BD9-81ED-4DB2-BD59-A6C34878D82A}">
                    <a16:rowId xmlns:a16="http://schemas.microsoft.com/office/drawing/2014/main" val="272821427"/>
                  </a:ext>
                </a:extLst>
              </a:tr>
              <a:tr h="173548"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Lesões a 30 dias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Ferido leve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Ferido leve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Ferido leve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Ferido leve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extLst>
                  <a:ext uri="{0D108BD9-81ED-4DB2-BD59-A6C34878D82A}">
                    <a16:rowId xmlns:a16="http://schemas.microsoft.com/office/drawing/2014/main" val="3475327699"/>
                  </a:ext>
                </a:extLst>
              </a:tr>
              <a:tr h="173548"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Sexo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Feminino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Masculino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Feminino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Feminino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extLst>
                  <a:ext uri="{0D108BD9-81ED-4DB2-BD59-A6C34878D82A}">
                    <a16:rowId xmlns:a16="http://schemas.microsoft.com/office/drawing/2014/main" val="667019622"/>
                  </a:ext>
                </a:extLst>
              </a:tr>
              <a:tr h="173548"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Posição Veiculo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 dirty="0" err="1">
                          <a:effectLst/>
                        </a:rPr>
                        <a:t>Desconhecido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À frente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À rectaguarda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À frente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extLst>
                  <a:ext uri="{0D108BD9-81ED-4DB2-BD59-A6C34878D82A}">
                    <a16:rowId xmlns:a16="http://schemas.microsoft.com/office/drawing/2014/main" val="2128878103"/>
                  </a:ext>
                </a:extLst>
              </a:tr>
              <a:tr h="173548"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Acessórios Passageiro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C/ capacete/ cinto segurança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C/ capacete/ cinto segurança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C/ sistema retenção de crianças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C/ capacete/ cinto segurança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extLst>
                  <a:ext uri="{0D108BD9-81ED-4DB2-BD59-A6C34878D82A}">
                    <a16:rowId xmlns:a16="http://schemas.microsoft.com/office/drawing/2014/main" val="3319317529"/>
                  </a:ext>
                </a:extLst>
              </a:tr>
              <a:tr h="173548"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Distrito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Vila Real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Lisboa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Lisboa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Viana do Castelo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extLst>
                  <a:ext uri="{0D108BD9-81ED-4DB2-BD59-A6C34878D82A}">
                    <a16:rowId xmlns:a16="http://schemas.microsoft.com/office/drawing/2014/main" val="1168256003"/>
                  </a:ext>
                </a:extLst>
              </a:tr>
              <a:tr h="173548"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Concelho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Chaves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Oeiras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Oeiras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Viana do Castelo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extLst>
                  <a:ext uri="{0D108BD9-81ED-4DB2-BD59-A6C34878D82A}">
                    <a16:rowId xmlns:a16="http://schemas.microsoft.com/office/drawing/2014/main" val="1921858711"/>
                  </a:ext>
                </a:extLst>
              </a:tr>
              <a:tr h="173548"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Passageiro Gr.Etario(&lt;=5) SUM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extLst>
                  <a:ext uri="{0D108BD9-81ED-4DB2-BD59-A6C34878D82A}">
                    <a16:rowId xmlns:a16="http://schemas.microsoft.com/office/drawing/2014/main" val="3351259055"/>
                  </a:ext>
                </a:extLst>
              </a:tr>
              <a:tr h="173548"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Passageiro Gr.Etario(6-9) SUM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1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extLst>
                  <a:ext uri="{0D108BD9-81ED-4DB2-BD59-A6C34878D82A}">
                    <a16:rowId xmlns:a16="http://schemas.microsoft.com/office/drawing/2014/main" val="2944565796"/>
                  </a:ext>
                </a:extLst>
              </a:tr>
              <a:tr h="173548"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Passageiro Gr.Etario(10-14) SUM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1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 dirty="0">
                          <a:effectLst/>
                        </a:rPr>
                        <a:t>0</a:t>
                      </a:r>
                      <a:endParaRPr lang="en-PT" sz="9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extLst>
                  <a:ext uri="{0D108BD9-81ED-4DB2-BD59-A6C34878D82A}">
                    <a16:rowId xmlns:a16="http://schemas.microsoft.com/office/drawing/2014/main" val="2424570631"/>
                  </a:ext>
                </a:extLst>
              </a:tr>
              <a:tr h="173548"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Passageiro Gr.Etario(15-17) SUM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extLst>
                  <a:ext uri="{0D108BD9-81ED-4DB2-BD59-A6C34878D82A}">
                    <a16:rowId xmlns:a16="http://schemas.microsoft.com/office/drawing/2014/main" val="2233209922"/>
                  </a:ext>
                </a:extLst>
              </a:tr>
              <a:tr h="173548"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Passageiro Gr.Etario(18-20) SUM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1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extLst>
                  <a:ext uri="{0D108BD9-81ED-4DB2-BD59-A6C34878D82A}">
                    <a16:rowId xmlns:a16="http://schemas.microsoft.com/office/drawing/2014/main" val="1530341298"/>
                  </a:ext>
                </a:extLst>
              </a:tr>
              <a:tr h="173548"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Passageiro Gr.Etario(21-24) SUM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extLst>
                  <a:ext uri="{0D108BD9-81ED-4DB2-BD59-A6C34878D82A}">
                    <a16:rowId xmlns:a16="http://schemas.microsoft.com/office/drawing/2014/main" val="3093109363"/>
                  </a:ext>
                </a:extLst>
              </a:tr>
              <a:tr h="173548"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Passageiro Gr.Etario(25-29) SUM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1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extLst>
                  <a:ext uri="{0D108BD9-81ED-4DB2-BD59-A6C34878D82A}">
                    <a16:rowId xmlns:a16="http://schemas.microsoft.com/office/drawing/2014/main" val="948881785"/>
                  </a:ext>
                </a:extLst>
              </a:tr>
              <a:tr h="173548"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Passageiro Gr.Etario(30-34) SUM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extLst>
                  <a:ext uri="{0D108BD9-81ED-4DB2-BD59-A6C34878D82A}">
                    <a16:rowId xmlns:a16="http://schemas.microsoft.com/office/drawing/2014/main" val="2384484712"/>
                  </a:ext>
                </a:extLst>
              </a:tr>
              <a:tr h="173548"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Passageiro Gr.Etario(35-39) SUM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extLst>
                  <a:ext uri="{0D108BD9-81ED-4DB2-BD59-A6C34878D82A}">
                    <a16:rowId xmlns:a16="http://schemas.microsoft.com/office/drawing/2014/main" val="2540085480"/>
                  </a:ext>
                </a:extLst>
              </a:tr>
              <a:tr h="173548"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Passageiro Gr.Etario(40-44) SUM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extLst>
                  <a:ext uri="{0D108BD9-81ED-4DB2-BD59-A6C34878D82A}">
                    <a16:rowId xmlns:a16="http://schemas.microsoft.com/office/drawing/2014/main" val="3059705194"/>
                  </a:ext>
                </a:extLst>
              </a:tr>
              <a:tr h="173548"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Passageiro Gr.Etario(45-49) SUM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extLst>
                  <a:ext uri="{0D108BD9-81ED-4DB2-BD59-A6C34878D82A}">
                    <a16:rowId xmlns:a16="http://schemas.microsoft.com/office/drawing/2014/main" val="1673568269"/>
                  </a:ext>
                </a:extLst>
              </a:tr>
              <a:tr h="173548"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Passageiro Gr.Etario(50-54) SUM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 dirty="0">
                          <a:effectLst/>
                        </a:rPr>
                        <a:t>0</a:t>
                      </a:r>
                      <a:endParaRPr lang="en-PT" sz="9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extLst>
                  <a:ext uri="{0D108BD9-81ED-4DB2-BD59-A6C34878D82A}">
                    <a16:rowId xmlns:a16="http://schemas.microsoft.com/office/drawing/2014/main" val="1537253462"/>
                  </a:ext>
                </a:extLst>
              </a:tr>
              <a:tr h="173548"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Passageiro Gr.Etario(55-59) SUM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extLst>
                  <a:ext uri="{0D108BD9-81ED-4DB2-BD59-A6C34878D82A}">
                    <a16:rowId xmlns:a16="http://schemas.microsoft.com/office/drawing/2014/main" val="3385728594"/>
                  </a:ext>
                </a:extLst>
              </a:tr>
              <a:tr h="173548"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Passageiro Gr.Etario(60-64) SUM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extLst>
                  <a:ext uri="{0D108BD9-81ED-4DB2-BD59-A6C34878D82A}">
                    <a16:rowId xmlns:a16="http://schemas.microsoft.com/office/drawing/2014/main" val="535918606"/>
                  </a:ext>
                </a:extLst>
              </a:tr>
              <a:tr h="173548"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Passageiro Gr.Etario(65-69) SUM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extLst>
                  <a:ext uri="{0D108BD9-81ED-4DB2-BD59-A6C34878D82A}">
                    <a16:rowId xmlns:a16="http://schemas.microsoft.com/office/drawing/2014/main" val="1294346654"/>
                  </a:ext>
                </a:extLst>
              </a:tr>
              <a:tr h="173548"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Passageiro Gr.Etario(70-74) SUM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extLst>
                  <a:ext uri="{0D108BD9-81ED-4DB2-BD59-A6C34878D82A}">
                    <a16:rowId xmlns:a16="http://schemas.microsoft.com/office/drawing/2014/main" val="1672295082"/>
                  </a:ext>
                </a:extLst>
              </a:tr>
              <a:tr h="173548"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Passageiro Gr.Etario(&gt;=75) SUM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extLst>
                  <a:ext uri="{0D108BD9-81ED-4DB2-BD59-A6C34878D82A}">
                    <a16:rowId xmlns:a16="http://schemas.microsoft.com/office/drawing/2014/main" val="2391900303"/>
                  </a:ext>
                </a:extLst>
              </a:tr>
              <a:tr h="173548">
                <a:tc>
                  <a:txBody>
                    <a:bodyPr/>
                    <a:lstStyle/>
                    <a:p>
                      <a:pPr algn="l" fontAlgn="b"/>
                      <a:r>
                        <a:rPr lang="en-GB" sz="900" u="none" strike="noStrike">
                          <a:effectLst/>
                        </a:rPr>
                        <a:t>Passageiro Gr.Etario(Não Def.) SUM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>
                          <a:effectLst/>
                        </a:rPr>
                        <a:t>0</a:t>
                      </a:r>
                      <a:endParaRPr lang="en-PT" sz="9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900" u="none" strike="noStrike" dirty="0">
                          <a:effectLst/>
                        </a:rPr>
                        <a:t>0</a:t>
                      </a:r>
                      <a:endParaRPr lang="en-PT" sz="9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135" marR="8135" marT="8135" marB="0" anchor="b"/>
                </a:tc>
                <a:extLst>
                  <a:ext uri="{0D108BD9-81ED-4DB2-BD59-A6C34878D82A}">
                    <a16:rowId xmlns:a16="http://schemas.microsoft.com/office/drawing/2014/main" val="849208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2259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3.33333E-6 L 0.46406 0.35439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203" y="1770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6406 0.35625 L 0.46406 -0.35209 " pathEditMode="relative" ptsTypes="AA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8728D-08B6-C846-921F-EC54EFAB3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noProof="0" dirty="0">
                <a:solidFill>
                  <a:schemeClr val="bg1">
                    <a:lumMod val="50000"/>
                  </a:schemeClr>
                </a:solidFill>
              </a:rPr>
              <a:t>Acidentes rodoviários</a:t>
            </a:r>
            <a:br>
              <a:rPr lang="pt-PT" noProof="0" dirty="0"/>
            </a:br>
            <a:r>
              <a:rPr lang="pt-PT" noProof="0" dirty="0"/>
              <a:t>30 Dias_ Acidentes (26K registos em 2019)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450D556-28BA-9741-90C8-E7F4FF810C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531447"/>
              </p:ext>
            </p:extLst>
          </p:nvPr>
        </p:nvGraphicFramePr>
        <p:xfrm>
          <a:off x="439068" y="1316229"/>
          <a:ext cx="11313864" cy="54703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5587">
                  <a:extLst>
                    <a:ext uri="{9D8B030D-6E8A-4147-A177-3AD203B41FA5}">
                      <a16:colId xmlns:a16="http://schemas.microsoft.com/office/drawing/2014/main" val="3445522055"/>
                    </a:ext>
                  </a:extLst>
                </a:gridCol>
                <a:gridCol w="2890524">
                  <a:extLst>
                    <a:ext uri="{9D8B030D-6E8A-4147-A177-3AD203B41FA5}">
                      <a16:colId xmlns:a16="http://schemas.microsoft.com/office/drawing/2014/main" val="1184617529"/>
                    </a:ext>
                  </a:extLst>
                </a:gridCol>
                <a:gridCol w="2970510">
                  <a:extLst>
                    <a:ext uri="{9D8B030D-6E8A-4147-A177-3AD203B41FA5}">
                      <a16:colId xmlns:a16="http://schemas.microsoft.com/office/drawing/2014/main" val="515543584"/>
                    </a:ext>
                  </a:extLst>
                </a:gridCol>
                <a:gridCol w="3897243">
                  <a:extLst>
                    <a:ext uri="{9D8B030D-6E8A-4147-A177-3AD203B41FA5}">
                      <a16:colId xmlns:a16="http://schemas.microsoft.com/office/drawing/2014/main" val="2366797706"/>
                    </a:ext>
                  </a:extLst>
                </a:gridCol>
              </a:tblGrid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Id. Acidente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20191684872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20191654557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20191652791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1907782841"/>
                  </a:ext>
                </a:extLst>
              </a:tr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Datahora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T" sz="800" u="none" strike="noStrike">
                          <a:effectLst/>
                        </a:rPr>
                        <a:t>2019:01:01 00:03:00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T" sz="800" u="none" strike="noStrike">
                          <a:effectLst/>
                        </a:rPr>
                        <a:t>2019:01:01 00:55:00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T" sz="800" u="none" strike="noStrike">
                          <a:effectLst/>
                        </a:rPr>
                        <a:t>2019:01:01 01:00:00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3673557591"/>
                  </a:ext>
                </a:extLst>
              </a:tr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Dia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01/01/00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01/01/00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01/01/00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833710843"/>
                  </a:ext>
                </a:extLst>
              </a:tr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Mês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01/01/00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01/01/00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01/01/00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1979982135"/>
                  </a:ext>
                </a:extLst>
              </a:tr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Hora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01/01/00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01/01/00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01/01/00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3138612672"/>
                  </a:ext>
                </a:extLst>
              </a:tr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Entidades Fiscalizadoras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Guarda Nacional Republicana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Polícia de Segurança Pública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Polícia de Segurança Pública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3418693076"/>
                  </a:ext>
                </a:extLst>
              </a:tr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Velocidade local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50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50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50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3512664944"/>
                  </a:ext>
                </a:extLst>
              </a:tr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Velocidade geral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50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90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 dirty="0">
                          <a:effectLst/>
                        </a:rPr>
                        <a:t>50</a:t>
                      </a:r>
                      <a:endParaRPr lang="en-PT" sz="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1607109914"/>
                  </a:ext>
                </a:extLst>
              </a:tr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Dia da Semana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Terça-Feira  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Terça-Feira  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Terça-Feira  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2784917945"/>
                  </a:ext>
                </a:extLst>
              </a:tr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Latitude GPS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T" sz="800" u="none" strike="noStrike">
                          <a:effectLst/>
                        </a:rPr>
                        <a:t>40,907580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T" sz="800" u="none" strike="noStrike">
                          <a:effectLst/>
                        </a:rPr>
                        <a:t>41,181257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T" sz="800" u="none" strike="noStrike">
                          <a:effectLst/>
                        </a:rPr>
                        <a:t>0,0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2451024056"/>
                  </a:ext>
                </a:extLst>
              </a:tr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Longitude GPS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T" sz="800" u="none" strike="noStrike">
                          <a:effectLst/>
                        </a:rPr>
                        <a:t>-8,548013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T" sz="800" u="none" strike="noStrike">
                          <a:effectLst/>
                        </a:rPr>
                        <a:t>-8,584378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T" sz="800" u="none" strike="noStrike">
                          <a:effectLst/>
                        </a:rPr>
                        <a:t>0,0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1042301502"/>
                  </a:ext>
                </a:extLst>
              </a:tr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Num. Mortos a 30 dias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108927982"/>
                  </a:ext>
                </a:extLst>
              </a:tr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Num. Feridos graves a 30 dias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2672678882"/>
                  </a:ext>
                </a:extLst>
              </a:tr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Num. Feridos ligeiros a 30 dias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1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2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800" u="none" strike="noStrike">
                          <a:effectLst/>
                        </a:rPr>
                        <a:t>1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3180504355"/>
                  </a:ext>
                </a:extLst>
              </a:tr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Características Tecnicas1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Estrada sem separador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Outra via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Estrada sem separador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3736257118"/>
                  </a:ext>
                </a:extLst>
              </a:tr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Cond Aderência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Seco e limpo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Seco e limpo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Seco e limpo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3440680978"/>
                  </a:ext>
                </a:extLst>
              </a:tr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Distrito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Aveiro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Porto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Lisboa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1617333081"/>
                  </a:ext>
                </a:extLst>
              </a:tr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Concelho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Santa Maria da Feira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Porto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Loures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2152428241"/>
                  </a:ext>
                </a:extLst>
              </a:tr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Freguesia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União das freguesias de São Miguel do Souto e Mosteirô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Paranhos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Loures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2473632753"/>
                  </a:ext>
                </a:extLst>
              </a:tr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Pov. Proxima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Macieira de Souto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Porto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Montemor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923145209"/>
                  </a:ext>
                </a:extLst>
              </a:tr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Nome arruamento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Rua da Póvoa 352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Rua Major Rosa Bastos                                                                               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2252118618"/>
                  </a:ext>
                </a:extLst>
              </a:tr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Tipos Vias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Arruamento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Outra Via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Arruamento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1640115563"/>
                  </a:ext>
                </a:extLst>
              </a:tr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Cod Via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T" sz="800" u="none" strike="noStrike">
                          <a:effectLst/>
                        </a:rPr>
                        <a:t>0</a:t>
                      </a:r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2976272114"/>
                  </a:ext>
                </a:extLst>
              </a:tr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Estado Conservação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Em bom estado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Em bom estado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Em estado regular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616613351"/>
                  </a:ext>
                </a:extLst>
              </a:tr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Km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PT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2338333699"/>
                  </a:ext>
                </a:extLst>
              </a:tr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Factores Atmosféricos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Bom tempo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Bom tempo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Bom tempo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1802633580"/>
                  </a:ext>
                </a:extLst>
              </a:tr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Reg Circulação1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Dois sentidos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Dois sentidos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Dois sentidos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2229261200"/>
                  </a:ext>
                </a:extLst>
              </a:tr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Intersecção Vias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Fora da intersecção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NÃO DEFINIDO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Em entroncamento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2991464657"/>
                  </a:ext>
                </a:extLst>
              </a:tr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Localizações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Dentro das localidades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Fora das localidades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Dentro das localidades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395722041"/>
                  </a:ext>
                </a:extLst>
              </a:tr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Luminosidade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Noite, com iluminação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Noite, com iluminação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Noite, com iluminação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2162038913"/>
                  </a:ext>
                </a:extLst>
              </a:tr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Marca Via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Sem marcas rodoviárias ou pouco visíveis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Com marcas - separadoras de sentido e de vias de trânsito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Com marcas - separadoras de sentido e de vias de trânsito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3147549873"/>
                  </a:ext>
                </a:extLst>
              </a:tr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Natureza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Colisão com veiculo ou obstáculo na faixa de rodagem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Colisão lateral com outro veículo em movimento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Colisão lateral com outro veículo em movimento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4205964577"/>
                  </a:ext>
                </a:extLst>
              </a:tr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Obras Arte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NÃO DEFINIDO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Viaduto/Ponte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NÃO DEFINIDO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2132900109"/>
                  </a:ext>
                </a:extLst>
              </a:tr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Obstáculos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Inexistentes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Inexistentes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Inexistentes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3112724014"/>
                  </a:ext>
                </a:extLst>
              </a:tr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Sentidos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NÃO DEFINIDO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No sentido crescente da quilometragem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NÃO DEFINIDO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1302515936"/>
                  </a:ext>
                </a:extLst>
              </a:tr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Sinais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NÃO DEFINIDO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Outros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Outros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2564702620"/>
                  </a:ext>
                </a:extLst>
              </a:tr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Sinais Luminosos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Inexistentes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Inexistentes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Inexistentes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1165136673"/>
                  </a:ext>
                </a:extLst>
              </a:tr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Tipo Piso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Betuminoso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Betuminoso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Betuminoso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1296533001"/>
                  </a:ext>
                </a:extLst>
              </a:tr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Traçado 1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Recta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Curva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Curva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4013891703"/>
                  </a:ext>
                </a:extLst>
              </a:tr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Traçado 2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Com inclinação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Com inclinação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Com inclinação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3613700053"/>
                  </a:ext>
                </a:extLst>
              </a:tr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Traçado 3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Berma não pavimentada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Sem berma ou impraticável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Berma pavimentada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3751148695"/>
                  </a:ext>
                </a:extLst>
              </a:tr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Traçado 4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Em plena via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Em plena via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Em plena via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2835980546"/>
                  </a:ext>
                </a:extLst>
              </a:tr>
              <a:tr h="11300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Via Trânsito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Direita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>
                          <a:effectLst/>
                        </a:rPr>
                        <a:t>Direita</a:t>
                      </a: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u="none" strike="noStrike" dirty="0" err="1">
                          <a:effectLst/>
                        </a:rPr>
                        <a:t>Direita</a:t>
                      </a: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297" marR="5297" marT="5297" marB="0" anchor="b"/>
                </a:tc>
                <a:extLst>
                  <a:ext uri="{0D108BD9-81ED-4DB2-BD59-A6C34878D82A}">
                    <a16:rowId xmlns:a16="http://schemas.microsoft.com/office/drawing/2014/main" val="2575807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2430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7.40741E-7 L 0.46393 0.39884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190" y="1993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6393 0.39884 L 0.46393 -0.39884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" y="-398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8728D-08B6-C846-921F-EC54EFAB3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noProof="0" dirty="0">
                <a:solidFill>
                  <a:schemeClr val="bg1">
                    <a:lumMod val="50000"/>
                  </a:schemeClr>
                </a:solidFill>
              </a:rPr>
              <a:t>Acidentes rodoviários</a:t>
            </a:r>
            <a:br>
              <a:rPr lang="pt-PT" noProof="0" dirty="0"/>
            </a:br>
            <a:r>
              <a:rPr lang="pt-PT" noProof="0" dirty="0"/>
              <a:t>30 </a:t>
            </a:r>
            <a:r>
              <a:rPr lang="pt-PT" noProof="0" dirty="0" err="1"/>
              <a:t>Dias_Peões</a:t>
            </a:r>
            <a:r>
              <a:rPr lang="pt-PT" noProof="0" dirty="0"/>
              <a:t> (6K registos em 2019)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F6DCBEA-3105-7C41-8DF2-6F259B764C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007985"/>
              </p:ext>
            </p:extLst>
          </p:nvPr>
        </p:nvGraphicFramePr>
        <p:xfrm>
          <a:off x="419099" y="1343025"/>
          <a:ext cx="11313864" cy="5250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1377">
                  <a:extLst>
                    <a:ext uri="{9D8B030D-6E8A-4147-A177-3AD203B41FA5}">
                      <a16:colId xmlns:a16="http://schemas.microsoft.com/office/drawing/2014/main" val="315464452"/>
                    </a:ext>
                  </a:extLst>
                </a:gridCol>
                <a:gridCol w="1796989">
                  <a:extLst>
                    <a:ext uri="{9D8B030D-6E8A-4147-A177-3AD203B41FA5}">
                      <a16:colId xmlns:a16="http://schemas.microsoft.com/office/drawing/2014/main" val="3682962585"/>
                    </a:ext>
                  </a:extLst>
                </a:gridCol>
                <a:gridCol w="3141974">
                  <a:extLst>
                    <a:ext uri="{9D8B030D-6E8A-4147-A177-3AD203B41FA5}">
                      <a16:colId xmlns:a16="http://schemas.microsoft.com/office/drawing/2014/main" val="1085753708"/>
                    </a:ext>
                  </a:extLst>
                </a:gridCol>
                <a:gridCol w="1951331">
                  <a:extLst>
                    <a:ext uri="{9D8B030D-6E8A-4147-A177-3AD203B41FA5}">
                      <a16:colId xmlns:a16="http://schemas.microsoft.com/office/drawing/2014/main" val="26707659"/>
                    </a:ext>
                  </a:extLst>
                </a:gridCol>
                <a:gridCol w="2902193">
                  <a:extLst>
                    <a:ext uri="{9D8B030D-6E8A-4147-A177-3AD203B41FA5}">
                      <a16:colId xmlns:a16="http://schemas.microsoft.com/office/drawing/2014/main" val="3185162905"/>
                    </a:ext>
                  </a:extLst>
                </a:gridCol>
              </a:tblGrid>
              <a:tr h="157387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Id. Acidente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20191742638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20191665993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20191663203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20191741940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extLst>
                  <a:ext uri="{0D108BD9-81ED-4DB2-BD59-A6C34878D82A}">
                    <a16:rowId xmlns:a16="http://schemas.microsoft.com/office/drawing/2014/main" val="4017290811"/>
                  </a:ext>
                </a:extLst>
              </a:tr>
              <a:tr h="157387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Freguesia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Friões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União das freguesias do Seixal, Arrentela e Aldeia de Paio Pires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São João da Madeira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Campolide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extLst>
                  <a:ext uri="{0D108BD9-81ED-4DB2-BD59-A6C34878D82A}">
                    <a16:rowId xmlns:a16="http://schemas.microsoft.com/office/drawing/2014/main" val="2050236082"/>
                  </a:ext>
                </a:extLst>
              </a:tr>
              <a:tr h="157387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Tipo Natureza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Despiste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Atropelamento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Atropelamento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Atropelamento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extLst>
                  <a:ext uri="{0D108BD9-81ED-4DB2-BD59-A6C34878D82A}">
                    <a16:rowId xmlns:a16="http://schemas.microsoft.com/office/drawing/2014/main" val="4152579940"/>
                  </a:ext>
                </a:extLst>
              </a:tr>
              <a:tr h="157387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Natureza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Despiste com capotamento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Atropelamento de peões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Atropelamento de peões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Atropelamento de peões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extLst>
                  <a:ext uri="{0D108BD9-81ED-4DB2-BD59-A6C34878D82A}">
                    <a16:rowId xmlns:a16="http://schemas.microsoft.com/office/drawing/2014/main" val="200097043"/>
                  </a:ext>
                </a:extLst>
              </a:tr>
              <a:tr h="157387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Datahora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T" sz="1000" u="none" strike="noStrike">
                          <a:effectLst/>
                        </a:rPr>
                        <a:t>2019:08:10 19:45:00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T" sz="1000" u="none" strike="noStrike">
                          <a:effectLst/>
                        </a:rPr>
                        <a:t>2019:03:05 19:30:00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T" sz="1000" u="none" strike="noStrike">
                          <a:effectLst/>
                        </a:rPr>
                        <a:t>2019:02:19 17:15:00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T" sz="1000" u="none" strike="noStrike">
                          <a:effectLst/>
                        </a:rPr>
                        <a:t>2019:09:06 15:30:00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extLst>
                  <a:ext uri="{0D108BD9-81ED-4DB2-BD59-A6C34878D82A}">
                    <a16:rowId xmlns:a16="http://schemas.microsoft.com/office/drawing/2014/main" val="866615672"/>
                  </a:ext>
                </a:extLst>
              </a:tr>
              <a:tr h="157387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Entidades Fiscalizadoras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Guarda Nacional Republicana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Polícia de Segurança Pública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Polícia de Segurança Pública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Polícia de Segurança Pública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extLst>
                  <a:ext uri="{0D108BD9-81ED-4DB2-BD59-A6C34878D82A}">
                    <a16:rowId xmlns:a16="http://schemas.microsoft.com/office/drawing/2014/main" val="77846749"/>
                  </a:ext>
                </a:extLst>
              </a:tr>
              <a:tr h="157387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Id. Peao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1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1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1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1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extLst>
                  <a:ext uri="{0D108BD9-81ED-4DB2-BD59-A6C34878D82A}">
                    <a16:rowId xmlns:a16="http://schemas.microsoft.com/office/drawing/2014/main" val="2434695667"/>
                  </a:ext>
                </a:extLst>
              </a:tr>
              <a:tr h="157387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Sexo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Feminino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Masculino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Masculino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Masculino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extLst>
                  <a:ext uri="{0D108BD9-81ED-4DB2-BD59-A6C34878D82A}">
                    <a16:rowId xmlns:a16="http://schemas.microsoft.com/office/drawing/2014/main" val="4292624885"/>
                  </a:ext>
                </a:extLst>
              </a:tr>
              <a:tr h="295101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Acções Peão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Transitando pela berma ou passeio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 dirty="0" err="1">
                          <a:effectLst/>
                        </a:rPr>
                        <a:t>Atravessando</a:t>
                      </a:r>
                      <a:r>
                        <a:rPr lang="en-GB" sz="1000" u="none" strike="noStrike" dirty="0">
                          <a:effectLst/>
                        </a:rPr>
                        <a:t> </a:t>
                      </a:r>
                      <a:r>
                        <a:rPr lang="en-GB" sz="1000" u="none" strike="noStrike" dirty="0" err="1">
                          <a:effectLst/>
                        </a:rPr>
                        <a:t>em</a:t>
                      </a:r>
                      <a:r>
                        <a:rPr lang="en-GB" sz="1000" u="none" strike="noStrike" dirty="0">
                          <a:effectLst/>
                        </a:rPr>
                        <a:t> </a:t>
                      </a:r>
                      <a:r>
                        <a:rPr lang="en-GB" sz="1000" u="none" strike="noStrike" dirty="0" err="1">
                          <a:effectLst/>
                        </a:rPr>
                        <a:t>passagem</a:t>
                      </a:r>
                      <a:r>
                        <a:rPr lang="en-GB" sz="1000" u="none" strike="noStrike" dirty="0">
                          <a:effectLst/>
                        </a:rPr>
                        <a:t> </a:t>
                      </a:r>
                      <a:r>
                        <a:rPr lang="en-GB" sz="1000" u="none" strike="noStrike" dirty="0" err="1">
                          <a:effectLst/>
                        </a:rPr>
                        <a:t>sinalizada</a:t>
                      </a: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Atravessando em passagem sinalizada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Atravessando fora da passagem de peões a mais de 50m de uma passagem ou quando não exista passagem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extLst>
                  <a:ext uri="{0D108BD9-81ED-4DB2-BD59-A6C34878D82A}">
                    <a16:rowId xmlns:a16="http://schemas.microsoft.com/office/drawing/2014/main" val="4163581108"/>
                  </a:ext>
                </a:extLst>
              </a:tr>
              <a:tr h="157387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Distrito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Vila Real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Setúbal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Aveiro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Lisboa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extLst>
                  <a:ext uri="{0D108BD9-81ED-4DB2-BD59-A6C34878D82A}">
                    <a16:rowId xmlns:a16="http://schemas.microsoft.com/office/drawing/2014/main" val="235601034"/>
                  </a:ext>
                </a:extLst>
              </a:tr>
              <a:tr h="157387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Concelho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Valpacos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Seixal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Sao Joao da Madeira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Lisboa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extLst>
                  <a:ext uri="{0D108BD9-81ED-4DB2-BD59-A6C34878D82A}">
                    <a16:rowId xmlns:a16="http://schemas.microsoft.com/office/drawing/2014/main" val="1510633667"/>
                  </a:ext>
                </a:extLst>
              </a:tr>
              <a:tr h="157387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Lesões a 30 dias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Ferido leve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Ferido leve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Ferido leve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Ferido leve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extLst>
                  <a:ext uri="{0D108BD9-81ED-4DB2-BD59-A6C34878D82A}">
                    <a16:rowId xmlns:a16="http://schemas.microsoft.com/office/drawing/2014/main" val="3533676969"/>
                  </a:ext>
                </a:extLst>
              </a:tr>
              <a:tr h="157387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Peao Gr.Etario(&lt;=5) SUM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extLst>
                  <a:ext uri="{0D108BD9-81ED-4DB2-BD59-A6C34878D82A}">
                    <a16:rowId xmlns:a16="http://schemas.microsoft.com/office/drawing/2014/main" val="2054762104"/>
                  </a:ext>
                </a:extLst>
              </a:tr>
              <a:tr h="157387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Peao Gr.Etario(6-9) SUM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extLst>
                  <a:ext uri="{0D108BD9-81ED-4DB2-BD59-A6C34878D82A}">
                    <a16:rowId xmlns:a16="http://schemas.microsoft.com/office/drawing/2014/main" val="3803532144"/>
                  </a:ext>
                </a:extLst>
              </a:tr>
              <a:tr h="157387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Peao Gr.Etario(10-14) SUM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1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extLst>
                  <a:ext uri="{0D108BD9-81ED-4DB2-BD59-A6C34878D82A}">
                    <a16:rowId xmlns:a16="http://schemas.microsoft.com/office/drawing/2014/main" val="2987329891"/>
                  </a:ext>
                </a:extLst>
              </a:tr>
              <a:tr h="157387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Peao Gr.Etario(15-17) SUM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extLst>
                  <a:ext uri="{0D108BD9-81ED-4DB2-BD59-A6C34878D82A}">
                    <a16:rowId xmlns:a16="http://schemas.microsoft.com/office/drawing/2014/main" val="3815802933"/>
                  </a:ext>
                </a:extLst>
              </a:tr>
              <a:tr h="157387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Peao Gr.Etario(18-20) SUM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extLst>
                  <a:ext uri="{0D108BD9-81ED-4DB2-BD59-A6C34878D82A}">
                    <a16:rowId xmlns:a16="http://schemas.microsoft.com/office/drawing/2014/main" val="2075179843"/>
                  </a:ext>
                </a:extLst>
              </a:tr>
              <a:tr h="157387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Peao Gr.Etario(21-24) SUM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extLst>
                  <a:ext uri="{0D108BD9-81ED-4DB2-BD59-A6C34878D82A}">
                    <a16:rowId xmlns:a16="http://schemas.microsoft.com/office/drawing/2014/main" val="2751225546"/>
                  </a:ext>
                </a:extLst>
              </a:tr>
              <a:tr h="157387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Peao Gr.Etario(25-29) SUM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extLst>
                  <a:ext uri="{0D108BD9-81ED-4DB2-BD59-A6C34878D82A}">
                    <a16:rowId xmlns:a16="http://schemas.microsoft.com/office/drawing/2014/main" val="3327165756"/>
                  </a:ext>
                </a:extLst>
              </a:tr>
              <a:tr h="157387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Peao Gr.Etario(30-34) SUM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extLst>
                  <a:ext uri="{0D108BD9-81ED-4DB2-BD59-A6C34878D82A}">
                    <a16:rowId xmlns:a16="http://schemas.microsoft.com/office/drawing/2014/main" val="4189421853"/>
                  </a:ext>
                </a:extLst>
              </a:tr>
              <a:tr h="157387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Peao Gr.Etario(35-39) SUM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1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extLst>
                  <a:ext uri="{0D108BD9-81ED-4DB2-BD59-A6C34878D82A}">
                    <a16:rowId xmlns:a16="http://schemas.microsoft.com/office/drawing/2014/main" val="3634886806"/>
                  </a:ext>
                </a:extLst>
              </a:tr>
              <a:tr h="157387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Peao Gr.Etario(40-44) SUM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1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extLst>
                  <a:ext uri="{0D108BD9-81ED-4DB2-BD59-A6C34878D82A}">
                    <a16:rowId xmlns:a16="http://schemas.microsoft.com/office/drawing/2014/main" val="1661244767"/>
                  </a:ext>
                </a:extLst>
              </a:tr>
              <a:tr h="157387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Peao Gr.Etario(45-49) SUM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extLst>
                  <a:ext uri="{0D108BD9-81ED-4DB2-BD59-A6C34878D82A}">
                    <a16:rowId xmlns:a16="http://schemas.microsoft.com/office/drawing/2014/main" val="139337376"/>
                  </a:ext>
                </a:extLst>
              </a:tr>
              <a:tr h="157387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Peao Gr.Etario (50-54) SUM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extLst>
                  <a:ext uri="{0D108BD9-81ED-4DB2-BD59-A6C34878D82A}">
                    <a16:rowId xmlns:a16="http://schemas.microsoft.com/office/drawing/2014/main" val="1797402283"/>
                  </a:ext>
                </a:extLst>
              </a:tr>
              <a:tr h="157387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Peao Gr.Etario (55-59) SUM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extLst>
                  <a:ext uri="{0D108BD9-81ED-4DB2-BD59-A6C34878D82A}">
                    <a16:rowId xmlns:a16="http://schemas.microsoft.com/office/drawing/2014/main" val="3486071426"/>
                  </a:ext>
                </a:extLst>
              </a:tr>
              <a:tr h="157387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Peao Gr.Etario (60-64) SUM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extLst>
                  <a:ext uri="{0D108BD9-81ED-4DB2-BD59-A6C34878D82A}">
                    <a16:rowId xmlns:a16="http://schemas.microsoft.com/office/drawing/2014/main" val="804486058"/>
                  </a:ext>
                </a:extLst>
              </a:tr>
              <a:tr h="157387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Peao Gr.Etario (65-69) SUM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extLst>
                  <a:ext uri="{0D108BD9-81ED-4DB2-BD59-A6C34878D82A}">
                    <a16:rowId xmlns:a16="http://schemas.microsoft.com/office/drawing/2014/main" val="413804944"/>
                  </a:ext>
                </a:extLst>
              </a:tr>
              <a:tr h="157387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Peao Gr.Etario (70-74) SUM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1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extLst>
                  <a:ext uri="{0D108BD9-81ED-4DB2-BD59-A6C34878D82A}">
                    <a16:rowId xmlns:a16="http://schemas.microsoft.com/office/drawing/2014/main" val="1660850455"/>
                  </a:ext>
                </a:extLst>
              </a:tr>
              <a:tr h="157387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Peao Gr.Etario (&gt;=75) SUM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extLst>
                  <a:ext uri="{0D108BD9-81ED-4DB2-BD59-A6C34878D82A}">
                    <a16:rowId xmlns:a16="http://schemas.microsoft.com/office/drawing/2014/main" val="1701761509"/>
                  </a:ext>
                </a:extLst>
              </a:tr>
              <a:tr h="157387">
                <a:tc>
                  <a:txBody>
                    <a:bodyPr/>
                    <a:lstStyle/>
                    <a:p>
                      <a:pPr algn="l" fontAlgn="b"/>
                      <a:r>
                        <a:rPr lang="en-GB" sz="1000" u="none" strike="noStrike">
                          <a:effectLst/>
                        </a:rPr>
                        <a:t>Peao Gr.Etario(Não Def.) SUM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>
                          <a:effectLst/>
                        </a:rPr>
                        <a:t>0</a:t>
                      </a:r>
                      <a:endParaRPr lang="en-PT" sz="1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PT" sz="1000" u="none" strike="noStrike" dirty="0">
                          <a:effectLst/>
                        </a:rPr>
                        <a:t>0</a:t>
                      </a:r>
                      <a:endParaRPr lang="en-PT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78" marR="7378" marT="7378" marB="0" anchor="b"/>
                </a:tc>
                <a:extLst>
                  <a:ext uri="{0D108BD9-81ED-4DB2-BD59-A6C34878D82A}">
                    <a16:rowId xmlns:a16="http://schemas.microsoft.com/office/drawing/2014/main" val="735912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9473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2.22222E-6 L 0.46406 0.39051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203" y="1951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6406 0.39051 L 0.46406 -0.37639 " pathEditMode="relative" ptsTypes="AA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3">
      <a:dk1>
        <a:srgbClr val="000C66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DCGS_ENG" id="{63D5CE2A-7FAE-6F46-B6C3-B89960EC43EA}" vid="{0AA21CAB-B4CE-C340-A477-2417316D98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38444</TotalTime>
  <Words>2069</Words>
  <Application>Microsoft Macintosh PowerPoint</Application>
  <PresentationFormat>Widescreen</PresentationFormat>
  <Paragraphs>761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Segoe UI</vt:lpstr>
      <vt:lpstr>Wingdings</vt:lpstr>
      <vt:lpstr>Office Theme</vt:lpstr>
      <vt:lpstr>PACD Projeto Aplicado em Ciência de Dados</vt:lpstr>
      <vt:lpstr>Planeamento</vt:lpstr>
      <vt:lpstr>Funcionamento</vt:lpstr>
      <vt:lpstr>Some hints</vt:lpstr>
      <vt:lpstr>Understand the Problem</vt:lpstr>
      <vt:lpstr>Data Quality Assessment</vt:lpstr>
      <vt:lpstr>Explore data</vt:lpstr>
      <vt:lpstr>Pre-processing</vt:lpstr>
      <vt:lpstr>Missing Values</vt:lpstr>
      <vt:lpstr>Class imbalance</vt:lpstr>
      <vt:lpstr>Base de dados da ANSR</vt:lpstr>
      <vt:lpstr>Acidentes rodoviários nas várias regiões do país</vt:lpstr>
      <vt:lpstr>Acidentes rodoviários 30 Dias_Cond_Veic (55K registos em 2019)</vt:lpstr>
      <vt:lpstr>Acidentes rodoviários 30 Dias_Passag (11K registos em 2019)</vt:lpstr>
      <vt:lpstr>Acidentes rodoviários 30 Dias_ Acidentes (26K registos em 2019)</vt:lpstr>
      <vt:lpstr>Acidentes rodoviários 30 Dias_Peões (6K registos em 2019)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 Maria de Almeida</dc:creator>
  <cp:lastModifiedBy>Fernando Batista</cp:lastModifiedBy>
  <cp:revision>597</cp:revision>
  <cp:lastPrinted>2021-05-12T14:40:30Z</cp:lastPrinted>
  <dcterms:created xsi:type="dcterms:W3CDTF">2019-07-22T09:34:01Z</dcterms:created>
  <dcterms:modified xsi:type="dcterms:W3CDTF">2025-11-04T08:30:58Z</dcterms:modified>
</cp:coreProperties>
</file>